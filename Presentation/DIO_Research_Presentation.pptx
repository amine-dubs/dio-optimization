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2C3E50"/>
                </a:solidFill>
              </a:defRPr>
            </a:pPr>
            <a:r>
              <a:t>Dholes-Inspired Optimization (DIO)</a:t>
            </a:r>
          </a:p>
          <a:p>
            <a:r>
              <a:t>for Feature Selection &amp; Hyperparameter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Breast Cancer Classification using Random Forest</a:t>
            </a:r>
          </a:p>
          <a:p/>
          <a:p>
            <a:r>
              <a:t>Your Name | Your University | October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Presentation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Introduction &amp; Motivation</a:t>
            </a:r>
          </a:p>
          <a:p>
            <a:pPr>
              <a:spcAft>
                <a:spcPts val="1200"/>
              </a:spcAft>
              <a:defRPr sz="1800"/>
            </a:pPr>
            <a:r>
              <a:t>DIO Algorithm Overview</a:t>
            </a:r>
          </a:p>
          <a:p>
            <a:pPr>
              <a:spcAft>
                <a:spcPts val="1200"/>
              </a:spcAft>
              <a:defRPr sz="1800"/>
            </a:pPr>
            <a:r>
              <a:t>Methodology: Nested Optimization</a:t>
            </a:r>
          </a:p>
          <a:p>
            <a:pPr>
              <a:spcAft>
                <a:spcPts val="1200"/>
              </a:spcAft>
              <a:defRPr sz="1800"/>
            </a:pPr>
            <a:r>
              <a:t>Experimental Setup</a:t>
            </a:r>
          </a:p>
          <a:p>
            <a:pPr>
              <a:spcAft>
                <a:spcPts val="1200"/>
              </a:spcAft>
              <a:defRPr sz="1800"/>
            </a:pPr>
            <a:r>
              <a:t>Results &amp; Performance Analysis</a:t>
            </a:r>
          </a:p>
          <a:p>
            <a:pPr>
              <a:spcAft>
                <a:spcPts val="1200"/>
              </a:spcAft>
              <a:defRPr sz="1800"/>
            </a:pPr>
            <a:r>
              <a:t>Statistical Validation</a:t>
            </a:r>
          </a:p>
          <a:p>
            <a:pPr>
              <a:spcAft>
                <a:spcPts val="1200"/>
              </a:spcAft>
              <a:defRPr sz="1800"/>
            </a:pPr>
            <a:r>
              <a:t>Practical Implications</a:t>
            </a:r>
          </a:p>
          <a:p>
            <a:pPr>
              <a:spcAft>
                <a:spcPts val="1200"/>
              </a:spcAft>
              <a:defRPr sz="1800"/>
            </a:pPr>
            <a:r>
              <a:t>Limitations &amp; Future Work</a:t>
            </a:r>
          </a:p>
          <a:p>
            <a:pPr>
              <a:spcAft>
                <a:spcPts val="1200"/>
              </a:spcAft>
              <a:defRPr sz="1800"/>
            </a:pPr>
            <a:r>
              <a:t>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Breast cancer: Leading cause of mortality in women</a:t>
            </a:r>
          </a:p>
          <a:p>
            <a:pPr>
              <a:spcAft>
                <a:spcPts val="1200"/>
              </a:spcAft>
              <a:defRPr sz="1800"/>
            </a:pPr>
            <a:r>
              <a:t>Machine learning for diagnosis: High-dimensional data (30 features)</a:t>
            </a:r>
          </a:p>
          <a:p>
            <a:pPr>
              <a:spcAft>
                <a:spcPts val="1200"/>
              </a:spcAft>
              <a:defRPr sz="1800"/>
            </a:pPr>
            <a:r>
              <a:t>Challenge: Optimal feature selection + hyperparameter tuning</a:t>
            </a:r>
          </a:p>
          <a:p>
            <a:pPr>
              <a:spcAft>
                <a:spcPts val="1200"/>
              </a:spcAft>
              <a:defRPr sz="1800"/>
            </a:pPr>
            <a:r>
              <a:t>Traditional approach: Sequential optimization → Suboptimal results</a:t>
            </a:r>
          </a:p>
          <a:p>
            <a:pPr>
              <a:spcAft>
                <a:spcPts val="1200"/>
              </a:spcAft>
              <a:defRPr sz="1800"/>
            </a:pPr>
            <a:r>
              <a:t>Our solution: Simultaneous optimization using nature-inspired DIO algorithm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Dholes-Inspired Optimization (DIO)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Nature-inspired metaheuristic algorithm</a:t>
            </a:r>
          </a:p>
          <a:p>
            <a:pPr>
              <a:spcAft>
                <a:spcPts val="1200"/>
              </a:spcAft>
              <a:defRPr sz="1800"/>
            </a:pPr>
            <a:r>
              <a:t>Based on pack hunting behavior of dholes (Asiatic wild dogs)</a:t>
            </a:r>
          </a:p>
          <a:p>
            <a:pPr>
              <a:spcAft>
                <a:spcPts val="1200"/>
              </a:spcAft>
              <a:defRPr sz="1800"/>
            </a:pPr>
            <a:r>
              <a:t>Three cooperative hunting strategies:</a:t>
            </a:r>
          </a:p>
          <a:p>
            <a:pPr lvl="1">
              <a:defRPr sz="1600"/>
            </a:pPr>
            <a:r>
              <a:t>Chase Alpha: Follow best hunter (exploitation)</a:t>
            </a:r>
          </a:p>
          <a:p>
            <a:pPr lvl="1">
              <a:defRPr sz="1600"/>
            </a:pPr>
            <a:r>
              <a:t>Random Pursuit: Chase random pack member (exploration)</a:t>
            </a:r>
          </a:p>
          <a:p>
            <a:pPr lvl="1">
              <a:defRPr sz="1600"/>
            </a:pPr>
            <a:r>
              <a:t>Pack Center: Move toward group average (cooperation)</a:t>
            </a:r>
          </a:p>
          <a:p>
            <a:pPr>
              <a:defRPr sz="1800"/>
            </a:pPr>
            <a:r>
              <a:t>Published 2023 by Dehghani et al. in Scientific Reports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DIO Mathematical Formulation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Position update combines three strategies: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X_chase = X_alpha + r₁ × (X_alpha - X_i)</a:t>
            </a:r>
          </a:p>
          <a:p>
            <a:pPr>
              <a:spcAft>
                <a:spcPts val="1200"/>
              </a:spcAft>
              <a:defRPr sz="1800"/>
            </a:pPr>
            <a:r>
              <a:t>X_random = X_r + r₂ × (X_r - X_i)</a:t>
            </a:r>
          </a:p>
          <a:p>
            <a:pPr>
              <a:spcAft>
                <a:spcPts val="1200"/>
              </a:spcAft>
              <a:defRPr sz="1800"/>
            </a:pPr>
            <a:r>
              <a:t>X_scavenge = X_mean + r₃ × (X_mean - X_i)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X_new = (X_chase + X_random + X_scavenge) / 3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Where: r₁, r₂, r₃ ∈ [0,1] are random numbers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Novel Nested Optimization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Two-level hierarchical optimization:</a:t>
            </a:r>
          </a:p>
          <a:p>
            <a:pPr lvl="1">
              <a:defRPr sz="1800" b="1"/>
            </a:pPr>
            <a:r>
              <a:t>Outer Loop: Hyperparameter Tuning</a:t>
            </a:r>
          </a:p>
          <a:p>
            <a:pPr lvl="2">
              <a:defRPr sz="1600"/>
            </a:pPr>
            <a:r>
              <a:t>Population: 3 dholes, 5 iterations</a:t>
            </a:r>
          </a:p>
          <a:p>
            <a:pPr lvl="2">
              <a:defRPr sz="1600"/>
            </a:pPr>
            <a:r>
              <a:t>Parameters: n_estimators, max_depth, min_samples_split, min_samples_leaf</a:t>
            </a:r>
          </a:p>
          <a:p>
            <a:pPr lvl="1">
              <a:defRPr sz="1800" b="1"/>
            </a:pPr>
            <a:r>
              <a:t>Inner Loop: Feature Selection</a:t>
            </a:r>
          </a:p>
          <a:p>
            <a:pPr lvl="2">
              <a:defRPr sz="1600"/>
            </a:pPr>
            <a:r>
              <a:t>Population: 5 dholes, 10 iterations</a:t>
            </a:r>
          </a:p>
          <a:p>
            <a:pPr lvl="2">
              <a:defRPr sz="1600"/>
            </a:pPr>
            <a:r>
              <a:t>Selects optimal feature subset for each hyperparameter 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Multi-Objective Fitness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F = 0.99 × (1 - Accuracy) + 0.01 × (Features/Total)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Goal: Minimize F (balance accuracy and complexity)</a:t>
            </a:r>
          </a:p>
          <a:p>
            <a:pPr>
              <a:spcAft>
                <a:spcPts val="1200"/>
              </a:spcAft>
              <a:defRPr sz="1800"/>
            </a:pPr>
            <a:r>
              <a:t>99% weight on accuracy, 1% on feature reduction</a:t>
            </a:r>
          </a:p>
          <a:p>
            <a:pPr>
              <a:spcAft>
                <a:spcPts val="1200"/>
              </a:spcAft>
              <a:defRPr sz="1800"/>
            </a:pPr>
            <a:r>
              <a:t>Encourages Pareto-optimal solutions</a:t>
            </a:r>
          </a:p>
          <a:p>
            <a:pPr>
              <a:spcAft>
                <a:spcPts val="1200"/>
              </a:spcAft>
              <a:defRPr sz="1800"/>
            </a:pPr>
            <a:r>
              <a:t>Favors fewer features when accuracy is comparable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Dataset &amp; 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Dataset: Breast Cancer Wisconsin (Diagnostic)</a:t>
            </a:r>
          </a:p>
          <a:p>
            <a:pPr lvl="1">
              <a:defRPr sz="1600"/>
            </a:pPr>
            <a:r>
              <a:t>569 samples (357 benign, 212 malignant)</a:t>
            </a:r>
          </a:p>
          <a:p>
            <a:pPr lvl="1">
              <a:defRPr sz="1600"/>
            </a:pPr>
            <a:r>
              <a:t>30 features from digitized cell nuclei images</a:t>
            </a:r>
          </a:p>
          <a:p>
            <a:pPr lvl="1">
              <a:defRPr sz="1600"/>
            </a:pPr>
            <a:r>
              <a:t>Standard benchmark in medical ML</a:t>
            </a:r>
          </a:p>
          <a:p>
            <a:pPr>
              <a:defRPr sz="1800" b="1"/>
            </a:pPr>
            <a:r>
              <a:t>Validation Strategy:</a:t>
            </a:r>
          </a:p>
          <a:p>
            <a:pPr lvl="1">
              <a:defRPr sz="1600"/>
            </a:pPr>
            <a:r>
              <a:t>30 independent runs with different train/test splits</a:t>
            </a:r>
          </a:p>
          <a:p>
            <a:pPr lvl="1">
              <a:defRPr sz="1600"/>
            </a:pPr>
            <a:r>
              <a:t>70/30 stratified split (random states: 42-71)</a:t>
            </a:r>
          </a:p>
          <a:p>
            <a:pPr lvl="1">
              <a:defRPr sz="1600"/>
            </a:pPr>
            <a:r>
              <a:t>Ensures statistical robustness and reproducibility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DIO-Optimized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6400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Optimized Hyperparameters:</a:t>
            </a:r>
          </a:p>
          <a:p>
            <a:pPr>
              <a:spcAft>
                <a:spcPts val="800"/>
              </a:spcAft>
              <a:defRPr sz="2000"/>
            </a:pPr>
            <a:r>
              <a:t>• n_estimators: 193</a:t>
            </a:r>
          </a:p>
          <a:p>
            <a:pPr>
              <a:spcAft>
                <a:spcPts val="800"/>
              </a:spcAft>
              <a:defRPr sz="2000"/>
            </a:pPr>
            <a:r>
              <a:t>• max_depth: 13</a:t>
            </a:r>
          </a:p>
          <a:p>
            <a:pPr>
              <a:spcAft>
                <a:spcPts val="800"/>
              </a:spcAft>
              <a:defRPr sz="2000"/>
            </a:pPr>
            <a:r>
              <a:t>• min_samples_split: 4</a:t>
            </a:r>
          </a:p>
          <a:p>
            <a:pPr>
              <a:spcAft>
                <a:spcPts val="800"/>
              </a:spcAft>
              <a:defRPr sz="2000"/>
            </a:pPr>
            <a:r>
              <a:t>• min_samples_leaf: 1</a:t>
            </a:r>
          </a:p>
          <a:p>
            <a:br/>
            <a:pPr>
              <a:defRPr sz="2200" b="1">
                <a:solidFill>
                  <a:srgbClr val="2ECC71"/>
                </a:solidFill>
              </a:defRPr>
            </a:pPr>
            <a:r>
              <a:t>Selected Features: 8 out of 30 (73% reduction!)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8 Selected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mean compactness</a:t>
            </a:r>
          </a:p>
          <a:p>
            <a:pPr>
              <a:spcAft>
                <a:spcPts val="1200"/>
              </a:spcAft>
              <a:defRPr sz="1800"/>
            </a:pPr>
            <a:r>
              <a:t>area error</a:t>
            </a:r>
          </a:p>
          <a:p>
            <a:pPr>
              <a:spcAft>
                <a:spcPts val="1200"/>
              </a:spcAft>
              <a:defRPr sz="1800"/>
            </a:pPr>
            <a:r>
              <a:t>concavity error</a:t>
            </a:r>
          </a:p>
          <a:p>
            <a:pPr>
              <a:spcAft>
                <a:spcPts val="1200"/>
              </a:spcAft>
              <a:defRPr sz="1800"/>
            </a:pPr>
            <a:r>
              <a:t>concave points error</a:t>
            </a:r>
          </a:p>
          <a:p>
            <a:pPr>
              <a:spcAft>
                <a:spcPts val="1200"/>
              </a:spcAft>
              <a:defRPr sz="1800"/>
            </a:pPr>
            <a:r>
              <a:t>fractal dimension error</a:t>
            </a:r>
          </a:p>
          <a:p>
            <a:pPr>
              <a:spcAft>
                <a:spcPts val="1200"/>
              </a:spcAft>
              <a:defRPr sz="1800"/>
            </a:pPr>
            <a:r>
              <a:t>worst area</a:t>
            </a:r>
          </a:p>
          <a:p>
            <a:pPr>
              <a:spcAft>
                <a:spcPts val="1200"/>
              </a:spcAft>
              <a:defRPr sz="1800"/>
            </a:pPr>
            <a:r>
              <a:t>worst smoothness</a:t>
            </a:r>
          </a:p>
          <a:p>
            <a:pPr>
              <a:spcAft>
                <a:spcPts val="1200"/>
              </a:spcAft>
              <a:defRPr sz="1800"/>
            </a:pPr>
            <a:r>
              <a:t>worst fractal dimension</a:t>
            </a:r>
          </a:p>
          <a:p>
            <a:br/>
            <a:pPr>
              <a:defRPr sz="1800" i="1">
                <a:solidFill>
                  <a:srgbClr val="3498DB"/>
                </a:solidFill>
              </a:defRPr>
            </a:pPr>
            <a:r>
              <a:t>Balanced selection: Mean, Error, and Worst statistics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Model Performance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[Image: statistical_comparison_visualization.png]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Three Optimization Approaches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600">
                <a:latin typeface="Courier New"/>
              </a:defRPr>
            </a:pPr>
            <a:r>
              <a:t>Approach              Accuracy        Features  Opt.Time  Rank</a:t>
            </a:r>
            <a:br/>
            <a:r>
              <a:t>───────────────────────────────────────────────────────────────</a:t>
            </a:r>
            <a:br/>
            <a:r>
              <a:t>DIO-XGBoost          96.34% ±1.23%   17/30     54 sec    #1 🏆</a:t>
            </a:r>
            <a:br/>
            <a:r>
              <a:t>(Single-Split)       (43% reduction)</a:t>
            </a:r>
            <a:br/>
            <a:br/>
            <a:r>
              <a:t>DIO-RF-CV            96.26% ±1.33%   6/30      7.9 hrs   #3</a:t>
            </a:r>
            <a:br/>
            <a:r>
              <a:t>(CV-Based)           (80% reduction)</a:t>
            </a:r>
            <a:br/>
            <a:br/>
            <a:r>
              <a:t>DIO-RF-Single        94.72% ±1.41%   8/30      1 min     #7</a:t>
            </a:r>
            <a:br/>
            <a:r>
              <a:t>(Initial)            (73% reduction)</a:t>
            </a:r>
            <a:br/>
            <a:r>
              <a:t>───────────────────────────────────────────────────────────────</a:t>
            </a:r>
            <a:br/>
            <a:br/>
            <a:r>
              <a:t>Key Insight: XGBoost achieves BEST OVERALL performance!</a:t>
            </a:r>
            <a:b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Key Findings: Algorithm-Dependent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🏆 DIO-XGBoost: BEST OVERALL (96.34%, 17 features, Rank #1)</a:t>
            </a:r>
          </a:p>
          <a:p>
            <a:pPr>
              <a:spcAft>
                <a:spcPts val="1200"/>
              </a:spcAft>
              <a:defRPr sz="1800"/>
            </a:pPr>
            <a:r>
              <a:t>✓ Lowest standard deviation (1.23%) = Most stable</a:t>
            </a:r>
          </a:p>
          <a:p>
            <a:pPr>
              <a:spcAft>
                <a:spcPts val="1200"/>
              </a:spcAft>
              <a:defRPr sz="1800"/>
            </a:pPr>
            <a:r>
              <a:t>✓ 54-second optimization (526× faster than CV-RF!)</a:t>
            </a:r>
          </a:p>
          <a:p>
            <a:pPr>
              <a:spcAft>
                <a:spcPts val="1200"/>
              </a:spcAft>
              <a:defRPr sz="1800"/>
            </a:pPr>
            <a:r>
              <a:t>✓ Significantly better than defaults (p=0.0426)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🥉 DIO-RF-CV: Best Interpretability (96.26%, 6 features, Rank #3)</a:t>
            </a:r>
          </a:p>
          <a:p>
            <a:pPr>
              <a:spcAft>
                <a:spcPts val="1200"/>
              </a:spcAft>
              <a:defRPr sz="1800"/>
            </a:pPr>
            <a:r>
              <a:t>✓ 80% feature reduction (highest among all)</a:t>
            </a:r>
          </a:p>
          <a:p>
            <a:pPr>
              <a:spcAft>
                <a:spcPts val="1200"/>
              </a:spcAft>
              <a:defRPr sz="1800"/>
            </a:pPr>
            <a:r>
              <a:t>✓ Significantly better than defaults (p=0.0084)</a:t>
            </a:r>
          </a:p>
          <a:p>
            <a:pPr>
              <a:spcAft>
                <a:spcPts val="1200"/>
              </a:spcAft>
              <a:defRPr sz="1800"/>
            </a:pPr>
            <a:r>
              <a:t>✓ Fixes optimization overfitting problem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💡 Critical Discovery: Optimization Overfitting is Algorithm-Dependent</a:t>
            </a:r>
          </a:p>
          <a:p>
            <a:pPr>
              <a:spcAft>
                <a:spcPts val="1200"/>
              </a:spcAft>
              <a:defRPr sz="1800"/>
            </a:pPr>
            <a:r>
              <a:t>• RF single-split suffered overfitting (100% → 94.72%)</a:t>
            </a:r>
          </a:p>
          <a:p>
            <a:pPr>
              <a:spcAft>
                <a:spcPts val="1200"/>
              </a:spcAft>
              <a:defRPr sz="1800"/>
            </a:pPr>
            <a:r>
              <a:t>• XGBoost single-split achieved top performance (98.83% → 96.34%)</a:t>
            </a:r>
          </a:p>
          <a:p>
            <a:pPr>
              <a:spcAft>
                <a:spcPts val="1200"/>
              </a:spcAft>
              <a:defRPr sz="1800"/>
            </a:pPr>
            <a:r>
              <a:t>• Gradient boosting's regularization enables single-split success!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CV-Based Optimization: Fixing Overfitting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tatistical_comparison_visualization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682446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96.26% ± 1.33% with 6 features (80% reduction) - Rank #3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XGBoost Optimization: Best Overall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xgboost_statistical_comparison_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6832056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96.34% ± 1.23% with 17 features (43% reduction) - Rank #1 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Statistical Validation: All Three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Wilcoxon Signed-Rank Test Results:</a:t>
            </a:r>
          </a:p>
          <a:p>
            <a:pPr>
              <a:spcAft>
                <a:spcPts val="400"/>
              </a:spcAft>
              <a:defRPr sz="1500"/>
            </a:pPr>
          </a:p>
          <a:p>
            <a:pPr>
              <a:spcAft>
                <a:spcPts val="400"/>
              </a:spcAft>
              <a:defRPr sz="1500"/>
            </a:pPr>
            <a:r>
              <a:t>DIO-XGBoost-Optimized (BEST - Rank #1):</a:t>
            </a:r>
          </a:p>
          <a:p>
            <a:pPr>
              <a:spcAft>
                <a:spcPts val="400"/>
              </a:spcAft>
              <a:defRPr sz="1500"/>
            </a:pPr>
            <a:r>
              <a:t>  • vs. XGBoost defaults: p=0.0426 (*) ✓</a:t>
            </a:r>
          </a:p>
          <a:p>
            <a:pPr>
              <a:spcAft>
                <a:spcPts val="400"/>
              </a:spcAft>
              <a:defRPr sz="1500"/>
            </a:pPr>
            <a:r>
              <a:t>  • vs. XGBoost (All): p=0.5067 (ns) - equivalent with 43% fewer features!</a:t>
            </a:r>
          </a:p>
          <a:p>
            <a:pPr>
              <a:spcAft>
                <a:spcPts val="400"/>
              </a:spcAft>
              <a:defRPr sz="1500"/>
            </a:pPr>
            <a:r>
              <a:t>  • vs. SVM/KNN/NB: p&lt;0.001 (***) ✓✓✓</a:t>
            </a:r>
          </a:p>
          <a:p>
            <a:pPr>
              <a:spcAft>
                <a:spcPts val="400"/>
              </a:spcAft>
              <a:defRPr sz="1500"/>
            </a:pPr>
          </a:p>
          <a:p>
            <a:pPr>
              <a:spcAft>
                <a:spcPts val="400"/>
              </a:spcAft>
              <a:defRPr sz="1500"/>
            </a:pPr>
            <a:r>
              <a:t>DIO-RF-CV-Optimized (Rank #3):</a:t>
            </a:r>
          </a:p>
          <a:p>
            <a:pPr>
              <a:spcAft>
                <a:spcPts val="400"/>
              </a:spcAft>
              <a:defRPr sz="1500"/>
            </a:pPr>
            <a:r>
              <a:t>  • vs. RF defaults (6 feat): p=0.0084 (**) ✓✓</a:t>
            </a:r>
          </a:p>
          <a:p>
            <a:pPr>
              <a:spcAft>
                <a:spcPts val="400"/>
              </a:spcAft>
              <a:defRPr sz="1500"/>
            </a:pPr>
            <a:r>
              <a:t>  • vs. RF (All): p=0.0553 (ns) - comparable with 80% fewer features!</a:t>
            </a:r>
          </a:p>
          <a:p>
            <a:pPr>
              <a:spcAft>
                <a:spcPts val="400"/>
              </a:spcAft>
              <a:defRPr sz="1500"/>
            </a:pPr>
            <a:r>
              <a:t>  • vs. SVM: p&lt;0.001 (***) ✓✓✓</a:t>
            </a:r>
          </a:p>
          <a:p>
            <a:pPr>
              <a:spcAft>
                <a:spcPts val="400"/>
              </a:spcAft>
              <a:defRPr sz="1500"/>
            </a:pPr>
          </a:p>
          <a:p>
            <a:pPr>
              <a:spcAft>
                <a:spcPts val="400"/>
              </a:spcAft>
              <a:defRPr sz="1500"/>
            </a:pPr>
            <a:r>
              <a:t>DIO-RF-Single (Rank #7 - optimization overfitting issue):</a:t>
            </a:r>
          </a:p>
          <a:p>
            <a:pPr>
              <a:spcAft>
                <a:spcPts val="400"/>
              </a:spcAft>
              <a:defRPr sz="1500"/>
            </a:pPr>
            <a:r>
              <a:t>  • vs. RF defaults (8 feat): p=0.165 (ns) - generalization problem</a:t>
            </a:r>
          </a:p>
          <a:p>
            <a:pPr>
              <a:spcAft>
                <a:spcPts val="400"/>
              </a:spcAft>
              <a:defRPr sz="1500"/>
            </a:pPr>
            <a:r>
              <a:t>  • vs. SVM/KNN: p&lt;0.001 (***) ✓✓✓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Pareto Frontier: Three Validated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CC71"/>
                </a:solidFill>
              </a:defRPr>
            </a:pPr>
            <a:r>
              <a:t>Three Pareto-Optimal Solutions for Different Priorities:</a:t>
            </a:r>
          </a:p>
          <a:p>
            <a:pPr>
              <a:spcAft>
                <a:spcPts val="400"/>
              </a:spcAft>
              <a:defRPr sz="1600"/>
            </a:pPr>
          </a:p>
          <a:p>
            <a:pPr>
              <a:spcAft>
                <a:spcPts val="400"/>
              </a:spcAft>
              <a:defRPr sz="1600"/>
            </a:pPr>
            <a:r>
              <a:t>🏆 Maximum Accuracy: DIO-XGBoost (96.34%, 17 features)</a:t>
            </a:r>
          </a:p>
          <a:p>
            <a:pPr>
              <a:spcAft>
                <a:spcPts val="400"/>
              </a:spcAft>
              <a:defRPr sz="1600"/>
            </a:pPr>
            <a:r>
              <a:t>  • Best overall performance across ALL experiments</a:t>
            </a:r>
          </a:p>
          <a:p>
            <a:pPr>
              <a:spcAft>
                <a:spcPts val="400"/>
              </a:spcAft>
              <a:defRPr sz="1600"/>
            </a:pPr>
            <a:r>
              <a:t>  • Lowest variance (1.23%) = Most stable predictions</a:t>
            </a:r>
          </a:p>
          <a:p>
            <a:pPr>
              <a:spcAft>
                <a:spcPts val="400"/>
              </a:spcAft>
              <a:defRPr sz="1600"/>
            </a:pPr>
            <a:r>
              <a:t>  • Fast optimization (54 seconds)</a:t>
            </a:r>
          </a:p>
          <a:p>
            <a:pPr>
              <a:spcAft>
                <a:spcPts val="400"/>
              </a:spcAft>
              <a:defRPr sz="1600"/>
            </a:pPr>
            <a:r>
              <a:t>  • Choose when: Accuracy is paramount</a:t>
            </a:r>
          </a:p>
          <a:p>
            <a:pPr>
              <a:spcAft>
                <a:spcPts val="400"/>
              </a:spcAft>
              <a:defRPr sz="1600"/>
            </a:pPr>
          </a:p>
          <a:p>
            <a:pPr>
              <a:spcAft>
                <a:spcPts val="400"/>
              </a:spcAft>
              <a:defRPr sz="1600"/>
            </a:pPr>
            <a:r>
              <a:t>🎯 Maximum Interpretability: DIO-RF-CV (96.26%, 6 features)</a:t>
            </a:r>
          </a:p>
          <a:p>
            <a:pPr>
              <a:spcAft>
                <a:spcPts val="400"/>
              </a:spcAft>
              <a:defRPr sz="1600"/>
            </a:pPr>
            <a:r>
              <a:t>  • Highest feature reduction (80%)</a:t>
            </a:r>
          </a:p>
          <a:p>
            <a:pPr>
              <a:spcAft>
                <a:spcPts val="400"/>
              </a:spcAft>
              <a:defRPr sz="1600"/>
            </a:pPr>
            <a:r>
              <a:t>  • Near-maximum accuracy with minimal complexity</a:t>
            </a:r>
          </a:p>
          <a:p>
            <a:pPr>
              <a:spcAft>
                <a:spcPts val="400"/>
              </a:spcAft>
              <a:defRPr sz="1600"/>
            </a:pPr>
            <a:r>
              <a:t>  • Choose when: Clinical transparency critical</a:t>
            </a:r>
          </a:p>
          <a:p>
            <a:pPr>
              <a:spcAft>
                <a:spcPts val="400"/>
              </a:spcAft>
              <a:defRPr sz="1600"/>
            </a:pPr>
          </a:p>
          <a:p>
            <a:pPr>
              <a:spcAft>
                <a:spcPts val="400"/>
              </a:spcAft>
              <a:defRPr sz="1600"/>
            </a:pPr>
            <a:r>
              <a:t>⚡ Rapid Prototyping: DIO-RF-Single (94.72%, 8 features)</a:t>
            </a:r>
          </a:p>
          <a:p>
            <a:pPr>
              <a:spcAft>
                <a:spcPts val="400"/>
              </a:spcAft>
              <a:defRPr sz="1600"/>
            </a:pPr>
            <a:r>
              <a:t>  • 1-minute optimization time</a:t>
            </a:r>
          </a:p>
          <a:p>
            <a:pPr>
              <a:spcAft>
                <a:spcPts val="400"/>
              </a:spcAft>
              <a:defRPr sz="1600"/>
            </a:pPr>
            <a:r>
              <a:t>  • Demonstrates optimization overfitting issue</a:t>
            </a:r>
          </a:p>
          <a:p>
            <a:pPr>
              <a:spcAft>
                <a:spcPts val="400"/>
              </a:spcAft>
              <a:defRPr sz="1600"/>
            </a:pPr>
            <a:r>
              <a:t>  • Choose when: Quick baseline needed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Clinical Deployment: Choose Your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🏆 Choose DIO-XGBoost (96.34%, 17 features) if:</a:t>
            </a:r>
          </a:p>
          <a:p>
            <a:pPr lvl="1">
              <a:defRPr sz="1600"/>
            </a:pPr>
            <a:r>
              <a:t>Maximum accuracy is critical (e.g., high-stakes screening)</a:t>
            </a:r>
          </a:p>
          <a:p>
            <a:pPr lvl="1">
              <a:defRPr sz="1600"/>
            </a:pPr>
            <a:r>
              <a:t>Computational resources available</a:t>
            </a:r>
          </a:p>
          <a:p>
            <a:pPr lvl="1">
              <a:defRPr sz="1600"/>
            </a:pPr>
            <a:r>
              <a:t>43% feature reduction still provides efficiency gains</a:t>
            </a:r>
          </a:p>
          <a:p>
            <a:pPr>
              <a:defRPr sz="1800" b="1"/>
            </a:pPr>
            <a:r>
              <a:t>🎯 Choose DIO-RF-CV (96.26%, 6 features) if:</a:t>
            </a:r>
          </a:p>
          <a:p>
            <a:pPr lvl="1">
              <a:defRPr sz="1600"/>
            </a:pPr>
            <a:r>
              <a:t>Clinical interpretability paramount (only 6 measurements)</a:t>
            </a:r>
          </a:p>
          <a:p>
            <a:pPr lvl="1">
              <a:defRPr sz="1600"/>
            </a:pPr>
            <a:r>
              <a:t>Resource-constrained environments (80% cost reduction)</a:t>
            </a:r>
          </a:p>
          <a:p>
            <a:pPr lvl="1">
              <a:defRPr sz="1600"/>
            </a:pPr>
            <a:r>
              <a:t>Near-maximum accuracy (only 0.08% less than XGBoost)</a:t>
            </a:r>
          </a:p>
          <a:p>
            <a:pPr>
              <a:defRPr sz="1800" b="1"/>
            </a:pPr>
            <a:r>
              <a:t>⚡ Choose DIO-RF-Single (94.72%, 8 features) if:</a:t>
            </a:r>
          </a:p>
          <a:p>
            <a:pPr lvl="1">
              <a:defRPr sz="1600"/>
            </a:pPr>
            <a:r>
              <a:t>Rapid prototyping needed (1-minute optimization)</a:t>
            </a:r>
          </a:p>
          <a:p>
            <a:pPr lvl="1">
              <a:defRPr sz="1600"/>
            </a:pPr>
            <a:r>
              <a:t>Lower accuracy acceptable for initial screening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Framework Generalizability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DIO Framework Successfully Applied to Multiple Algorithms: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✓ Random Forest (Bagging ensemble)</a:t>
            </a:r>
          </a:p>
          <a:p>
            <a:pPr lvl="1">
              <a:defRPr sz="1600"/>
            </a:pPr>
            <a:r>
              <a:t>Single-split: 94.72% (suffered optimization overfitting)</a:t>
            </a:r>
          </a:p>
          <a:p>
            <a:pPr lvl="1">
              <a:defRPr sz="1600"/>
            </a:pPr>
            <a:r>
              <a:t>CV-based: 96.26% (fixed overfitting, rank #3)</a:t>
            </a:r>
          </a:p>
          <a:p>
            <a:pPr>
              <a:defRPr sz="1800" b="1"/>
            </a:pPr>
            <a:r>
              <a:t>✓ XGBoost (Gradient boosting)</a:t>
            </a:r>
          </a:p>
          <a:p>
            <a:pPr lvl="1">
              <a:defRPr sz="1600"/>
            </a:pPr>
            <a:r>
              <a:t>Single-split: 96.34% (best overall, rank #1)</a:t>
            </a:r>
          </a:p>
          <a:p>
            <a:pPr lvl="1">
              <a:defRPr sz="1600"/>
            </a:pPr>
            <a:r>
              <a:t>Inherent regularization prevents optimization overfitting!</a:t>
            </a:r>
          </a:p>
          <a:p>
            <a:pPr/>
          </a:p>
          <a:p>
            <a:pPr>
              <a:defRPr sz="1800" b="1">
                <a:solidFill>
                  <a:srgbClr val="E74C3C"/>
                </a:solidFill>
              </a:defRPr>
            </a:pPr>
            <a:r>
              <a:t>Key Discovery: Algorithm-dependent optimization behavior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Limitations &amp; 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✓ RESOLVED: Optimization overfitting in Random Forest</a:t>
            </a:r>
          </a:p>
          <a:p>
            <a:pPr>
              <a:spcAft>
                <a:spcPts val="1200"/>
              </a:spcAft>
              <a:defRPr sz="1800"/>
            </a:pPr>
            <a:r>
              <a:t>  → CV-based approach increased accuracy from 94.72% to 96.26%</a:t>
            </a:r>
          </a:p>
          <a:p>
            <a:pPr>
              <a:spcAft>
                <a:spcPts val="1200"/>
              </a:spcAft>
              <a:defRPr sz="1800"/>
            </a:pPr>
            <a:r>
              <a:t>  → Feature reduction improved from 73% to 80%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✓ DISCOVERY: Algorithm-dependent optimization behavior</a:t>
            </a:r>
          </a:p>
          <a:p>
            <a:pPr>
              <a:spcAft>
                <a:spcPts val="1200"/>
              </a:spcAft>
              <a:defRPr sz="1800"/>
            </a:pPr>
            <a:r>
              <a:t>  → XGBoost's regularization enables successful single-split optimization</a:t>
            </a:r>
          </a:p>
          <a:p>
            <a:pPr>
              <a:spcAft>
                <a:spcPts val="1200"/>
              </a:spcAft>
              <a:defRPr sz="1800"/>
            </a:pPr>
            <a:r>
              <a:t>  → Different algorithms require different validation strategies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Remaining Limitations:</a:t>
            </a:r>
          </a:p>
          <a:p>
            <a:pPr>
              <a:spcAft>
                <a:spcPts val="1200"/>
              </a:spcAft>
              <a:defRPr sz="1800"/>
            </a:pPr>
            <a:r>
              <a:t>• Single dataset evaluation (Breast Cancer Wisconsin only)</a:t>
            </a:r>
          </a:p>
          <a:p>
            <a:pPr>
              <a:spcAft>
                <a:spcPts val="1200"/>
              </a:spcAft>
              <a:defRPr sz="1800"/>
            </a:pPr>
            <a:r>
              <a:t>• Limited hyperparameter spaces (4 RF, 5 XGBoost parameters)</a:t>
            </a:r>
          </a:p>
          <a:p>
            <a:pPr>
              <a:spcAft>
                <a:spcPts val="1200"/>
              </a:spcAft>
              <a:defRPr sz="1800"/>
            </a:pPr>
            <a:r>
              <a:t>• No comparison with other metaheuristics (PSO, GA, ACO)</a:t>
            </a:r>
          </a:p>
          <a:p>
            <a:pPr>
              <a:spcAft>
                <a:spcPts val="1200"/>
              </a:spcAft>
              <a:defRPr sz="1800"/>
            </a:pPr>
            <a:r>
              <a:t>• Feature selection stability not assessed across multiple runs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Future Research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1. Multi-dataset validation</a:t>
            </a:r>
          </a:p>
          <a:p>
            <a:pPr>
              <a:spcAft>
                <a:spcPts val="1200"/>
              </a:spcAft>
              <a:defRPr sz="1800"/>
            </a:pPr>
            <a:r>
              <a:t>  → Lung cancer, diabetes, heart disease datasets</a:t>
            </a:r>
          </a:p>
          <a:p>
            <a:pPr>
              <a:spcAft>
                <a:spcPts val="1200"/>
              </a:spcAft>
              <a:defRPr sz="1800"/>
            </a:pPr>
            <a:r>
              <a:t>  → Verify algorithm-dependent optimization findings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2. CV-based XGBoost optimization</a:t>
            </a:r>
          </a:p>
          <a:p>
            <a:pPr>
              <a:spcAft>
                <a:spcPts val="1200"/>
              </a:spcAft>
              <a:defRPr sz="1800"/>
            </a:pPr>
            <a:r>
              <a:t>  → Can 96.34% accuracy be improved further with CV?</a:t>
            </a:r>
          </a:p>
          <a:p>
            <a:pPr>
              <a:spcAft>
                <a:spcPts val="1200"/>
              </a:spcAft>
              <a:defRPr sz="1800"/>
            </a:pPr>
            <a:r>
              <a:t>  → Compare single-split vs CV for gradient boosting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3. Benchmark against other metaheuristics (PSO, GA, ACO, GWO)</a:t>
            </a:r>
          </a:p>
          <a:p>
            <a:pPr>
              <a:spcAft>
                <a:spcPts val="1200"/>
              </a:spcAft>
              <a:defRPr sz="1800"/>
            </a:pPr>
            <a:r>
              <a:t>4. Extend to deep learning (neural architecture search)</a:t>
            </a:r>
          </a:p>
          <a:p>
            <a:pPr>
              <a:spcAft>
                <a:spcPts val="1200"/>
              </a:spcAft>
              <a:defRPr sz="1800"/>
            </a:pPr>
            <a:r>
              <a:t>5. Feature selection stability analysis across multiple DIO runs</a:t>
            </a:r>
          </a:p>
          <a:p>
            <a:pPr>
              <a:spcAft>
                <a:spcPts val="1200"/>
              </a:spcAft>
              <a:defRPr sz="1800"/>
            </a:pPr>
            <a:r>
              <a:t>6. Real-world clinical deployment and prospective validation</a:t>
            </a:r>
          </a:p>
          <a:p>
            <a:pPr>
              <a:spcAft>
                <a:spcPts val="1200"/>
              </a:spcAft>
              <a:defRPr sz="1800"/>
            </a:pPr>
            <a:r>
              <a:t>7. Computational efficiency analysis and parallelization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Key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✓ First Python implementation of DIO algorithm</a:t>
            </a:r>
          </a:p>
          <a:p>
            <a:pPr>
              <a:spcAft>
                <a:spcPts val="1200"/>
              </a:spcAft>
              <a:defRPr sz="1800"/>
            </a:pPr>
            <a:r>
              <a:t>✓ Novel nested optimization framework for simultaneous tuning</a:t>
            </a:r>
          </a:p>
          <a:p>
            <a:pPr>
              <a:spcAft>
                <a:spcPts val="1200"/>
              </a:spcAft>
              <a:defRPr sz="1800"/>
            </a:pPr>
            <a:r>
              <a:t>✓ Three validated optimization approaches with trade-off analysis</a:t>
            </a:r>
          </a:p>
          <a:p>
            <a:pPr>
              <a:spcAft>
                <a:spcPts val="1200"/>
              </a:spcAft>
              <a:defRPr sz="1800"/>
            </a:pPr>
            <a:r>
              <a:t>✓ Discovery of algorithm-dependent optimization overfitting</a:t>
            </a:r>
          </a:p>
          <a:p>
            <a:pPr>
              <a:spcAft>
                <a:spcPts val="1200"/>
              </a:spcAft>
              <a:defRPr sz="1800"/>
            </a:pPr>
            <a:r>
              <a:t>✓ Multi-algorithm validation (Random Forest + XGBoost)</a:t>
            </a:r>
          </a:p>
          <a:p>
            <a:pPr>
              <a:spcAft>
                <a:spcPts val="1200"/>
              </a:spcAft>
              <a:defRPr sz="1800"/>
            </a:pPr>
            <a:r>
              <a:t>✓ Rigorous statistical validation (30 independent runs per approach)</a:t>
            </a:r>
          </a:p>
          <a:p>
            <a:pPr>
              <a:spcAft>
                <a:spcPts val="1200"/>
              </a:spcAft>
              <a:defRPr sz="1800"/>
            </a:pPr>
            <a:r>
              <a:t>✓ Comprehensive Pareto analysis with deployment recommendations</a:t>
            </a:r>
          </a:p>
          <a:p>
            <a:pPr>
              <a:spcAft>
                <a:spcPts val="1200"/>
              </a:spcAft>
              <a:defRPr sz="1800"/>
            </a:pPr>
            <a:r>
              <a:t>✓ Open-source implementation for reproducible research</a:t>
            </a:r>
          </a:p>
          <a:p>
            <a:pPr>
              <a:spcAft>
                <a:spcPts val="1200"/>
              </a:spcAft>
              <a:defRPr sz="1800"/>
            </a:pPr>
            <a:r>
              <a:t>✓ Best-in-class performance: 96.34% accuracy (Rank #1)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DIO framework successfully optimizes multiple ML algorithms for breast cancer classification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Three Pareto-optimal solutions achieved:</a:t>
            </a:r>
          </a:p>
          <a:p>
            <a:pPr>
              <a:spcAft>
                <a:spcPts val="600"/>
              </a:spcAft>
              <a:defRPr sz="1800"/>
            </a:pPr>
            <a:r>
              <a:t>  🏆 DIO-XGBoost: 96.34% accuracy, 17 features (Rank #1 OVERALL)</a:t>
            </a:r>
          </a:p>
          <a:p>
            <a:pPr>
              <a:spcAft>
                <a:spcPts val="600"/>
              </a:spcAft>
              <a:defRPr sz="1800"/>
            </a:pPr>
            <a:r>
              <a:t>  🥉 DIO-RF-CV: 96.26% accuracy, 6 features (Rank #3, best interpretability)</a:t>
            </a:r>
          </a:p>
          <a:p>
            <a:pPr>
              <a:spcAft>
                <a:spcPts val="600"/>
              </a:spcAft>
              <a:defRPr sz="1800"/>
            </a:pPr>
            <a:r>
              <a:t>  ⚡ DIO-RF-Single: 94.72% accuracy, 8 features (Rank #7, rapid baseline)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Key Discovery: Optimization overfitting is algorithm-dependent</a:t>
            </a:r>
          </a:p>
          <a:p>
            <a:pPr>
              <a:spcAft>
                <a:spcPts val="600"/>
              </a:spcAft>
              <a:defRPr sz="1800"/>
            </a:pPr>
            <a:r>
              <a:t>  • Gradient boosting's regularization enables single-split success</a:t>
            </a:r>
          </a:p>
          <a:p>
            <a:pPr>
              <a:spcAft>
                <a:spcPts val="600"/>
              </a:spcAft>
              <a:defRPr sz="1800"/>
            </a:pPr>
            <a:r>
              <a:t>  • Bagging ensembles benefit from CV-based optimization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Provides validated framework for medical AI with flexible deployment options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2C3E50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</a:defRPr>
            </a:pPr>
            <a:r>
              <a:t>🏆 Best Overall Performance: 96.34% Accuracy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498DB"/>
                </a:solidFill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/>
            </a:pPr>
            <a:r>
              <a:t>GitHub: amine-dubs/dio-optimization</a:t>
            </a:r>
          </a:p>
          <a:p>
            <a:pPr algn="ctr">
              <a:defRPr sz="1800"/>
            </a:pPr>
            <a:r>
              <a:t>Results: 3 approaches validated | 90+ independent runs</a:t>
            </a:r>
          </a:p>
          <a:p>
            <a:pPr algn="ctr">
              <a:defRPr sz="1800"/>
            </a:pPr>
            <a:r>
              <a:t>Dataset: UCI Machine Learning Repository (Wisconsin Breast Cancer)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