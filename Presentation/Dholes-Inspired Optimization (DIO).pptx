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Bricolage Grotesque Bold" charset="1" panose="020B0605040402000204"/>
      <p:regular r:id="rId40"/>
    </p:embeddedFont>
    <p:embeddedFont>
      <p:font typeface="Inter" charset="1" panose="020B0502030000000004"/>
      <p:regular r:id="rId41"/>
    </p:embeddedFont>
    <p:embeddedFont>
      <p:font typeface="Inter Medium" charset="1" panose="02000503000000020004"/>
      <p:regular r:id="rId42"/>
    </p:embeddedFont>
    <p:embeddedFont>
      <p:font typeface="Parmigiano Caption" charset="1" panose="00000000000000000000"/>
      <p:regular r:id="rId43"/>
    </p:embeddedFont>
    <p:embeddedFont>
      <p:font typeface="Inter Bold" charset="1" panose="020B0802030000000004"/>
      <p:regular r:id="rId44"/>
    </p:embeddedFont>
    <p:embeddedFont>
      <p:font typeface="Open Sans Bold" charset="1" panose="020B0806030504020204"/>
      <p:regular r:id="rId45"/>
    </p:embeddedFont>
    <p:embeddedFont>
      <p:font typeface="Inter Italics" charset="1" panose="020B0502030000000004"/>
      <p:regular r:id="rId46"/>
    </p:embeddedFont>
    <p:embeddedFont>
      <p:font typeface="Canva Sans Bold" charset="1" panose="020B0803030501040103"/>
      <p:regular r:id="rId47"/>
    </p:embeddedFont>
    <p:embeddedFont>
      <p:font typeface="Canva Sans" charset="1" panose="020B0503030501040103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https://github.com/amine-dubs/dio-optimization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link.springer.com/article/10.1007/s10586-025-05543-2" TargetMode="External" Type="http://schemas.openxmlformats.org/officeDocument/2006/relationships/hyperlink"/><Relationship Id="rId5" Target="https://github.com/Alyromeh/Dholes-Inspired-Optimization-D%20IO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ink.springer.com/article/10.1007/s10586-025-05543-2" TargetMode="External" Type="http://schemas.openxmlformats.org/officeDocument/2006/relationships/hyperlink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4500" y="5012755"/>
            <a:ext cx="254200" cy="1294913"/>
            <a:chOff x="0" y="0"/>
            <a:chExt cx="66950" cy="341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950" cy="341047"/>
            </a:xfrm>
            <a:custGeom>
              <a:avLst/>
              <a:gdLst/>
              <a:ahLst/>
              <a:cxnLst/>
              <a:rect r="r" b="b" t="t" l="l"/>
              <a:pathLst>
                <a:path h="341047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07572"/>
                  </a:lnTo>
                  <a:cubicBezTo>
                    <a:pt x="66950" y="326060"/>
                    <a:pt x="51963" y="341047"/>
                    <a:pt x="33475" y="341047"/>
                  </a:cubicBezTo>
                  <a:lnTo>
                    <a:pt x="33475" y="341047"/>
                  </a:lnTo>
                  <a:cubicBezTo>
                    <a:pt x="24597" y="341047"/>
                    <a:pt x="16082" y="337520"/>
                    <a:pt x="9805" y="331242"/>
                  </a:cubicBezTo>
                  <a:cubicBezTo>
                    <a:pt x="3527" y="324965"/>
                    <a:pt x="0" y="316450"/>
                    <a:pt x="0" y="307572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950" cy="379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54174" y="7197560"/>
            <a:ext cx="3746991" cy="3627755"/>
          </a:xfrm>
          <a:custGeom>
            <a:avLst/>
            <a:gdLst/>
            <a:ahLst/>
            <a:cxnLst/>
            <a:rect r="r" b="b" t="t" l="l"/>
            <a:pathLst>
              <a:path h="3627755" w="3746991">
                <a:moveTo>
                  <a:pt x="0" y="0"/>
                </a:moveTo>
                <a:lnTo>
                  <a:pt x="3746991" y="0"/>
                </a:lnTo>
                <a:lnTo>
                  <a:pt x="3746991" y="3627755"/>
                </a:lnTo>
                <a:lnTo>
                  <a:pt x="0" y="3627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8200407" y="1080998"/>
            <a:ext cx="2249680" cy="2178091"/>
          </a:xfrm>
          <a:custGeom>
            <a:avLst/>
            <a:gdLst/>
            <a:ahLst/>
            <a:cxnLst/>
            <a:rect r="r" b="b" t="t" l="l"/>
            <a:pathLst>
              <a:path h="2178091" w="2249680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11986" y="1004221"/>
            <a:ext cx="5935913" cy="7557297"/>
          </a:xfrm>
          <a:custGeom>
            <a:avLst/>
            <a:gdLst/>
            <a:ahLst/>
            <a:cxnLst/>
            <a:rect r="r" b="b" t="t" l="l"/>
            <a:pathLst>
              <a:path h="7557297" w="5935913">
                <a:moveTo>
                  <a:pt x="0" y="0"/>
                </a:moveTo>
                <a:lnTo>
                  <a:pt x="5935914" y="0"/>
                </a:lnTo>
                <a:lnTo>
                  <a:pt x="5935914" y="7557297"/>
                </a:lnTo>
                <a:lnTo>
                  <a:pt x="0" y="7557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8978" y="3417404"/>
            <a:ext cx="1410345" cy="1365465"/>
          </a:xfrm>
          <a:custGeom>
            <a:avLst/>
            <a:gdLst/>
            <a:ahLst/>
            <a:cxnLst/>
            <a:rect r="r" b="b" t="t" l="l"/>
            <a:pathLst>
              <a:path h="1365465" w="1410345">
                <a:moveTo>
                  <a:pt x="0" y="0"/>
                </a:moveTo>
                <a:lnTo>
                  <a:pt x="1410345" y="0"/>
                </a:lnTo>
                <a:lnTo>
                  <a:pt x="1410345" y="1365466"/>
                </a:lnTo>
                <a:lnTo>
                  <a:pt x="0" y="1365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6549" y="1511189"/>
            <a:ext cx="10966993" cy="268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2"/>
              </a:lnSpc>
            </a:pPr>
            <a:r>
              <a:rPr lang="en-US" sz="508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Nested DIO for Feature Selection</a:t>
            </a:r>
          </a:p>
          <a:p>
            <a:pPr algn="l">
              <a:lnSpc>
                <a:spcPts val="7112"/>
              </a:lnSpc>
            </a:pPr>
            <a:r>
              <a:rPr lang="en-US" sz="508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&amp; Hyperparameter Optimization</a:t>
            </a:r>
          </a:p>
          <a:p>
            <a:pPr algn="l">
              <a:lnSpc>
                <a:spcPts val="711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62381" y="5252805"/>
            <a:ext cx="7962866" cy="193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4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Cross-Domain Validation: Medical Diagnostics → Computer Vision</a:t>
            </a:r>
          </a:p>
          <a:p>
            <a:pPr algn="l">
              <a:lnSpc>
                <a:spcPts val="3401"/>
              </a:lnSpc>
            </a:pP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628792" y="9815195"/>
            <a:ext cx="1071910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USTO-MB | Computer Science | Data Science | Nov 2025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642601" y="9196963"/>
            <a:ext cx="7412673" cy="31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  <a:spcBef>
                <a:spcPct val="0"/>
              </a:spcBef>
            </a:pPr>
            <a:r>
              <a:rPr lang="en-US" sz="18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Pesented by Bellatrache Mohamed Amine  &amp; Ghizlane Cherif Imane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981" y="9173726"/>
            <a:ext cx="3031927" cy="63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1"/>
              </a:lnSpc>
            </a:pPr>
            <a:r>
              <a:rPr lang="en-US" sz="18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Professor: Dr. Neggaz Nabil</a:t>
            </a:r>
          </a:p>
          <a:p>
            <a:pPr algn="ctr">
              <a:lnSpc>
                <a:spcPts val="256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533407" y="9005570"/>
            <a:ext cx="266700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u="sng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  <a:hlinkClick r:id="rId8" tooltip="https://github.com/amine-dubs/dio-optimization"/>
              </a:rPr>
              <a:t>Project on 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43947" y="119634"/>
            <a:ext cx="5800106" cy="111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1"/>
              </a:lnSpc>
              <a:spcBef>
                <a:spcPct val="0"/>
              </a:spcBef>
            </a:pPr>
            <a:r>
              <a:rPr lang="en-US" b="true" sz="643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Outline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4246" y="1753453"/>
            <a:ext cx="9470120" cy="676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50133" indent="-475066" lvl="1">
              <a:lnSpc>
                <a:spcPts val="11002"/>
              </a:lnSpc>
              <a:buAutoNum type="arabicPeriod" startAt="1"/>
            </a:pPr>
            <a:r>
              <a:rPr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 Algorithm</a:t>
            </a:r>
          </a:p>
          <a:p>
            <a:pPr algn="just" marL="950133" indent="-475066" lvl="1">
              <a:lnSpc>
                <a:spcPts val="11002"/>
              </a:lnSpc>
              <a:buAutoNum type="arabicPeriod" startAt="1"/>
            </a:pPr>
            <a:r>
              <a:rPr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Nested Optimization Framework</a:t>
            </a:r>
          </a:p>
          <a:p>
            <a:pPr algn="just" marL="950133" indent="-475066" lvl="1">
              <a:lnSpc>
                <a:spcPts val="11002"/>
              </a:lnSpc>
              <a:buAutoNum type="arabicPeriod" startAt="1"/>
            </a:pPr>
            <a:r>
              <a:rPr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Medical Domain: Breast Cancer</a:t>
            </a:r>
          </a:p>
          <a:p>
            <a:pPr algn="just" marL="950133" indent="-475066" lvl="1">
              <a:lnSpc>
                <a:spcPts val="11002"/>
              </a:lnSpc>
              <a:buAutoNum type="arabicPeriod" startAt="1"/>
            </a:pPr>
            <a:r>
              <a:rPr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Vision Domain: CIFAR-10</a:t>
            </a:r>
          </a:p>
          <a:p>
            <a:pPr algn="just" marL="950133" indent="-475066" lvl="1">
              <a:lnSpc>
                <a:spcPts val="11002"/>
              </a:lnSpc>
              <a:buAutoNum type="arabicPeriod" startAt="1"/>
            </a:pPr>
            <a:r>
              <a:rPr lang="en-US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0005" y="255969"/>
            <a:ext cx="5965433" cy="1172612"/>
            <a:chOff x="0" y="0"/>
            <a:chExt cx="7953911" cy="156348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7953911" cy="1259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18"/>
                </a:lnSpc>
                <a:spcBef>
                  <a:spcPct val="0"/>
                </a:spcBef>
              </a:pPr>
              <a:r>
                <a:rPr lang="en-US" sz="5656" b="true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53566"/>
              <a:ext cx="7953911" cy="30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7863" y="1205178"/>
            <a:ext cx="15804867" cy="933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Breast cancer is one of the deadliest diseases affecting women worldwide [2]</a:t>
            </a:r>
          </a:p>
          <a:p>
            <a:pPr algn="l">
              <a:lnSpc>
                <a:spcPts val="5335"/>
              </a:lnSpc>
            </a:pP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 learning shows promise, but faces real challenges: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Medical datasets have 30+ features—which ones really matter?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A model's success depends on both the features AND its settings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Picking features first, then tuning later misses important connections</a:t>
            </a:r>
          </a:p>
          <a:p>
            <a:pPr algn="l">
              <a:lnSpc>
                <a:spcPts val="5335"/>
              </a:lnSpc>
            </a:pP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old way: Choose features → Train model → Tune parameters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problem: What if the best features change depending on the parameters?</a:t>
            </a:r>
          </a:p>
          <a:p>
            <a:pPr algn="l">
              <a:lnSpc>
                <a:spcPts val="5335"/>
              </a:lnSpc>
            </a:pPr>
            <a:r>
              <a:rPr lang="en-US" sz="38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•Our approach: Optimize both together using DIO [1]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42958" y="1028700"/>
            <a:ext cx="371483" cy="5802569"/>
            <a:chOff x="0" y="0"/>
            <a:chExt cx="97839" cy="1528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39" cy="1528249"/>
            </a:xfrm>
            <a:custGeom>
              <a:avLst/>
              <a:gdLst/>
              <a:ahLst/>
              <a:cxnLst/>
              <a:rect r="r" b="b" t="t" l="l"/>
              <a:pathLst>
                <a:path h="1528249" w="97839">
                  <a:moveTo>
                    <a:pt x="48920" y="0"/>
                  </a:moveTo>
                  <a:lnTo>
                    <a:pt x="48920" y="0"/>
                  </a:lnTo>
                  <a:cubicBezTo>
                    <a:pt x="75937" y="0"/>
                    <a:pt x="97839" y="21902"/>
                    <a:pt x="97839" y="48920"/>
                  </a:cubicBezTo>
                  <a:lnTo>
                    <a:pt x="97839" y="1479329"/>
                  </a:lnTo>
                  <a:cubicBezTo>
                    <a:pt x="97839" y="1492303"/>
                    <a:pt x="92685" y="1504746"/>
                    <a:pt x="83511" y="1513920"/>
                  </a:cubicBezTo>
                  <a:cubicBezTo>
                    <a:pt x="74337" y="1523095"/>
                    <a:pt x="61894" y="1528249"/>
                    <a:pt x="48920" y="1528249"/>
                  </a:cubicBezTo>
                  <a:lnTo>
                    <a:pt x="48920" y="1528249"/>
                  </a:lnTo>
                  <a:cubicBezTo>
                    <a:pt x="35945" y="1528249"/>
                    <a:pt x="23502" y="1523095"/>
                    <a:pt x="14328" y="1513920"/>
                  </a:cubicBezTo>
                  <a:cubicBezTo>
                    <a:pt x="5154" y="1504746"/>
                    <a:pt x="0" y="1492303"/>
                    <a:pt x="0" y="1479329"/>
                  </a:cubicBezTo>
                  <a:lnTo>
                    <a:pt x="0" y="48920"/>
                  </a:lnTo>
                  <a:cubicBezTo>
                    <a:pt x="0" y="35945"/>
                    <a:pt x="5154" y="23502"/>
                    <a:pt x="14328" y="14328"/>
                  </a:cubicBezTo>
                  <a:cubicBezTo>
                    <a:pt x="23502" y="5154"/>
                    <a:pt x="35945" y="0"/>
                    <a:pt x="489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7839" cy="15663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287696" y="8654814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949358" y="393648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60812" y="243221"/>
            <a:ext cx="10166377" cy="112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414536" indent="-707268" lvl="1">
              <a:lnSpc>
                <a:spcPts val="9172"/>
              </a:lnSpc>
              <a:spcBef>
                <a:spcPct val="0"/>
              </a:spcBef>
              <a:buAutoNum type="arabicPeriod" startAt="1"/>
            </a:pPr>
            <a:r>
              <a:rPr lang="en-US" b="true" sz="655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DIO: History &amp; Origins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0231" y="4462432"/>
            <a:ext cx="5025116" cy="1725723"/>
            <a:chOff x="0" y="0"/>
            <a:chExt cx="1323487" cy="4545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3487" cy="454511"/>
            </a:xfrm>
            <a:custGeom>
              <a:avLst/>
              <a:gdLst/>
              <a:ahLst/>
              <a:cxnLst/>
              <a:rect r="r" b="b" t="t" l="l"/>
              <a:pathLst>
                <a:path h="454511" w="1323487">
                  <a:moveTo>
                    <a:pt x="69329" y="0"/>
                  </a:moveTo>
                  <a:lnTo>
                    <a:pt x="1254158" y="0"/>
                  </a:lnTo>
                  <a:cubicBezTo>
                    <a:pt x="1292448" y="0"/>
                    <a:pt x="1323487" y="31040"/>
                    <a:pt x="1323487" y="69329"/>
                  </a:cubicBezTo>
                  <a:lnTo>
                    <a:pt x="1323487" y="385182"/>
                  </a:lnTo>
                  <a:cubicBezTo>
                    <a:pt x="1323487" y="423472"/>
                    <a:pt x="1292448" y="454511"/>
                    <a:pt x="1254158" y="454511"/>
                  </a:cubicBezTo>
                  <a:lnTo>
                    <a:pt x="69329" y="454511"/>
                  </a:lnTo>
                  <a:cubicBezTo>
                    <a:pt x="31040" y="454511"/>
                    <a:pt x="0" y="423472"/>
                    <a:pt x="0" y="385182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23487" cy="50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Ali El Romeh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73374" y="6399268"/>
            <a:ext cx="44187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31442" y="4462432"/>
            <a:ext cx="5025116" cy="1725723"/>
            <a:chOff x="0" y="0"/>
            <a:chExt cx="1323487" cy="454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3487" cy="454511"/>
            </a:xfrm>
            <a:custGeom>
              <a:avLst/>
              <a:gdLst/>
              <a:ahLst/>
              <a:cxnLst/>
              <a:rect r="r" b="b" t="t" l="l"/>
              <a:pathLst>
                <a:path h="454511" w="1323487">
                  <a:moveTo>
                    <a:pt x="69329" y="0"/>
                  </a:moveTo>
                  <a:lnTo>
                    <a:pt x="1254158" y="0"/>
                  </a:lnTo>
                  <a:cubicBezTo>
                    <a:pt x="1292448" y="0"/>
                    <a:pt x="1323487" y="31040"/>
                    <a:pt x="1323487" y="69329"/>
                  </a:cubicBezTo>
                  <a:lnTo>
                    <a:pt x="1323487" y="385182"/>
                  </a:lnTo>
                  <a:cubicBezTo>
                    <a:pt x="1323487" y="423472"/>
                    <a:pt x="1292448" y="454511"/>
                    <a:pt x="1254158" y="454511"/>
                  </a:cubicBezTo>
                  <a:lnTo>
                    <a:pt x="69329" y="454511"/>
                  </a:lnTo>
                  <a:cubicBezTo>
                    <a:pt x="31040" y="454511"/>
                    <a:pt x="0" y="423472"/>
                    <a:pt x="0" y="385182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23487" cy="50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Seyedali Mirjalili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28108" y="4462432"/>
            <a:ext cx="5025116" cy="1772690"/>
            <a:chOff x="0" y="0"/>
            <a:chExt cx="1323487" cy="4668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3487" cy="466881"/>
            </a:xfrm>
            <a:custGeom>
              <a:avLst/>
              <a:gdLst/>
              <a:ahLst/>
              <a:cxnLst/>
              <a:rect r="r" b="b" t="t" l="l"/>
              <a:pathLst>
                <a:path h="466881" w="1323487">
                  <a:moveTo>
                    <a:pt x="69329" y="0"/>
                  </a:moveTo>
                  <a:lnTo>
                    <a:pt x="1254158" y="0"/>
                  </a:lnTo>
                  <a:cubicBezTo>
                    <a:pt x="1292448" y="0"/>
                    <a:pt x="1323487" y="31040"/>
                    <a:pt x="1323487" y="69329"/>
                  </a:cubicBezTo>
                  <a:lnTo>
                    <a:pt x="1323487" y="397552"/>
                  </a:lnTo>
                  <a:cubicBezTo>
                    <a:pt x="1323487" y="435842"/>
                    <a:pt x="1292448" y="466881"/>
                    <a:pt x="1254158" y="466881"/>
                  </a:cubicBezTo>
                  <a:lnTo>
                    <a:pt x="69329" y="466881"/>
                  </a:lnTo>
                  <a:cubicBezTo>
                    <a:pt x="31040" y="466881"/>
                    <a:pt x="0" y="435842"/>
                    <a:pt x="0" y="397552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23487" cy="514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Václav Snášel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-96140" y="4527882"/>
            <a:ext cx="2249680" cy="2178091"/>
          </a:xfrm>
          <a:custGeom>
            <a:avLst/>
            <a:gdLst/>
            <a:ahLst/>
            <a:cxnLst/>
            <a:rect r="r" b="b" t="t" l="l"/>
            <a:pathLst>
              <a:path h="2178091" w="2249680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292865" y="2237374"/>
            <a:ext cx="2249680" cy="2178091"/>
          </a:xfrm>
          <a:custGeom>
            <a:avLst/>
            <a:gdLst/>
            <a:ahLst/>
            <a:cxnLst/>
            <a:rect r="r" b="b" t="t" l="l"/>
            <a:pathLst>
              <a:path h="2178091" w="2249680">
                <a:moveTo>
                  <a:pt x="0" y="0"/>
                </a:moveTo>
                <a:lnTo>
                  <a:pt x="2249680" y="0"/>
                </a:lnTo>
                <a:lnTo>
                  <a:pt x="2249680" y="2178091"/>
                </a:lnTo>
                <a:lnTo>
                  <a:pt x="0" y="2178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63640" y="2711653"/>
            <a:ext cx="9560719" cy="55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  <a:spcBef>
                <a:spcPct val="0"/>
              </a:spcBef>
            </a:pPr>
            <a:r>
              <a:rPr lang="en-US" sz="32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•Created in 2025 by international researchers [1]: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96773" y="7175085"/>
            <a:ext cx="11494453" cy="204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•Published in Cluster Computing (</a:t>
            </a:r>
            <a:r>
              <a:rPr lang="en-US" sz="292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 tooltip="https://link.springer.com/article/10.1007/s10586-025-05543-2"/>
              </a:rPr>
              <a:t>Springer</a:t>
            </a: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)—a prestigious journal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DOI: 10.1007/s10586-025-05543-2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Peer-reviewed and rigorously tested</a:t>
            </a:r>
          </a:p>
          <a:p>
            <a:pPr algn="ctr">
              <a:lnSpc>
                <a:spcPts val="4101"/>
              </a:lnSpc>
              <a:spcBef>
                <a:spcPct val="0"/>
              </a:spcBef>
            </a:pPr>
            <a:r>
              <a:rPr lang="en-US" sz="292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5" tooltip="https://github.com/Alyromeh/Dholes-Inspired-Optimization-D%20IO"/>
              </a:rP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5559" y="269900"/>
            <a:ext cx="13156883" cy="878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517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How DIO Works: The Hunting Strategies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00628" y="1892935"/>
            <a:ext cx="11086743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Dholes use three hunting strategies: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Strategy 1: Chase the Leader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Follow the best hunter toward the prey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In optimization: Exploit the best solution found so far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Strategy 2: Try Random Directions  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Check what other pack members are discovering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In optimization: Explore new areas of the search space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Strategy 3: Stick with the Pack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Move toward the group's center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- In optimization: Balance between extremes, avoid getting stuck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68583" y="9070340"/>
            <a:ext cx="8691325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 translates dhole pack hunting into mathematics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54235" y="422389"/>
            <a:ext cx="11468479" cy="169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1"/>
              </a:lnSpc>
            </a:pPr>
            <a:r>
              <a:rPr lang="en-US" sz="49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DIO maps dhole behavior to algorithm: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7054" y="2839709"/>
            <a:ext cx="889944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Lead vocalizer → Best solution guides search (Eq. 5)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87054" y="3959215"/>
            <a:ext cx="1361610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Vocal signals → V parameter controls exploration ↔ exploitation  (Eq. 1)  (Eq. 2)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7054" y="6101117"/>
            <a:ext cx="1191506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Territorial instincts → Boundary constraints (stay in valid zone)   (Eq. 6)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1026" y="7125373"/>
            <a:ext cx="1093674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Pack hierarchy → Dynamic leadership updates (Eq. 7)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7054" y="5076825"/>
            <a:ext cx="1320284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Cooperative hunting → Pack moves cooperatively (avoid traps) (Eq. 3) (Eq. 4)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312189" y="3245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6" y="3278014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57729" y="3583951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1584" y="109700"/>
            <a:ext cx="10124832" cy="117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7"/>
              </a:lnSpc>
              <a:spcBef>
                <a:spcPct val="0"/>
              </a:spcBef>
            </a:pPr>
            <a:r>
              <a:rPr lang="en-US" sz="6841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DIO: The Math Behind It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16295" y="4074705"/>
            <a:ext cx="6915162" cy="1454012"/>
            <a:chOff x="0" y="0"/>
            <a:chExt cx="9220216" cy="193868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 = r + sin(r × π)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C. Sinusoidal Oscillation (Eq. 3)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0128323" y="3768946"/>
            <a:ext cx="6915162" cy="1454012"/>
            <a:chOff x="0" y="0"/>
            <a:chExt cx="9220216" cy="193868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D_lead = |C × (LeadVocalizer_pos)² - (dhole)²|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D. Distance to Lead Vocalizer (Eq. 4)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316295" y="1492752"/>
            <a:ext cx="6915162" cy="1454012"/>
            <a:chOff x="0" y="0"/>
            <a:chExt cx="9220216" cy="193868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V(t) = 2 - (2*t / MaxIter)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A. Vocalization Influence (Eq. 1)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10128323" y="1472714"/>
            <a:ext cx="6915162" cy="1454012"/>
            <a:chOff x="0" y="0"/>
            <a:chExt cx="9220216" cy="1938683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 = V × 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B. Movement Scaling Factor (Eq. 2)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1316295" y="6516506"/>
            <a:ext cx="6915162" cy="1454012"/>
            <a:chOff x="0" y="0"/>
            <a:chExt cx="9220216" cy="1938683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887905" y="694718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X_new = LeadVocalizer_pos +B × √(D_lead)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E. Position Update (Eq. 5)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200148" y="6213364"/>
            <a:ext cx="6915162" cy="1617842"/>
            <a:chOff x="0" y="0"/>
            <a:chExt cx="9220216" cy="215712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887905" y="694718"/>
              <a:ext cx="8332311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If D_i &lt; lower_bound OR D_i &gt; upper_bound: D_i = lower_bound + (upper_bound - lower_bound) × rand()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F. Boundary Constraints (Eq. 6)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10128323" y="8531294"/>
            <a:ext cx="6915162" cy="1454012"/>
            <a:chOff x="0" y="0"/>
            <a:chExt cx="9220216" cy="1938683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887905" y="694718"/>
              <a:ext cx="8332311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If fitness(D_i) &gt; fitness(LeadVocalizer): LeadVocalizer = D_i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887905" y="-47625"/>
              <a:ext cx="833231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G. Lead Vocalizer Update (Eq. 7)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38934" cy="1938683"/>
              <a:chOff x="0" y="0"/>
              <a:chExt cx="66950" cy="38295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6950" cy="382950"/>
              </a:xfrm>
              <a:custGeom>
                <a:avLst/>
                <a:gdLst/>
                <a:ahLst/>
                <a:cxnLst/>
                <a:rect r="r" b="b" t="t" l="l"/>
                <a:pathLst>
                  <a:path h="382950" w="66950">
                    <a:moveTo>
                      <a:pt x="33475" y="0"/>
                    </a:moveTo>
                    <a:lnTo>
                      <a:pt x="33475" y="0"/>
                    </a:lnTo>
                    <a:cubicBezTo>
                      <a:pt x="42353" y="0"/>
                      <a:pt x="50868" y="3527"/>
                      <a:pt x="57145" y="9805"/>
                    </a:cubicBezTo>
                    <a:cubicBezTo>
                      <a:pt x="63423" y="16082"/>
                      <a:pt x="66950" y="24597"/>
                      <a:pt x="66950" y="33475"/>
                    </a:cubicBezTo>
                    <a:lnTo>
                      <a:pt x="66950" y="349475"/>
                    </a:lnTo>
                    <a:cubicBezTo>
                      <a:pt x="66950" y="367962"/>
                      <a:pt x="51963" y="382950"/>
                      <a:pt x="33475" y="382950"/>
                    </a:cubicBezTo>
                    <a:lnTo>
                      <a:pt x="33475" y="382950"/>
                    </a:lnTo>
                    <a:cubicBezTo>
                      <a:pt x="14987" y="382950"/>
                      <a:pt x="0" y="367962"/>
                      <a:pt x="0" y="349475"/>
                    </a:cubicBezTo>
                    <a:lnTo>
                      <a:pt x="0" y="33475"/>
                    </a:lnTo>
                    <a:cubicBezTo>
                      <a:pt x="0" y="14987"/>
                      <a:pt x="14987" y="0"/>
                      <a:pt x="334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6950" cy="4210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1713" y="109652"/>
            <a:ext cx="10844575" cy="9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7"/>
              </a:lnSpc>
            </a:pPr>
            <a:r>
              <a:rPr lang="en-US" sz="536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DIO Algorithm: Pseudocode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7159" y="1502086"/>
            <a:ext cx="77665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Initialize population D with random positions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87159" y="2178217"/>
            <a:ext cx="621768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Evaluate fitness of each dhole in D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7159" y="2964491"/>
            <a:ext cx="768429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Set lead_vocalizer = dhole with best fitness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87159" y="3640622"/>
            <a:ext cx="438638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For t = 1 to Max_iter do: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35115" y="4426897"/>
            <a:ext cx="843926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a. Calculate V using Eq. 1: V = 2 - (2 × t) / Max_iter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35115" y="5076825"/>
            <a:ext cx="890647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b. Determine phase (0 = exploration, 1 = exploitation)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5115" y="5686588"/>
            <a:ext cx="486715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c. For each dhole D_i in D do: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221521" y="6179584"/>
            <a:ext cx="1279012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phase == 0 (exploration):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If rand() &lt; 0.5: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                  D_i = lb + rand(1, dim) × (ub - lb)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629306" y="7939568"/>
            <a:ext cx="78795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Else: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980350" y="8270640"/>
            <a:ext cx="8535530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Calculate B (Eq. 2) and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Calculate D_lead (Eq. 4)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        Update position using X_lead (Eq. 5)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9096" y="3081044"/>
            <a:ext cx="6694408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iii. Apply boundary check for D_i (Eq. 6)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23955" y="4000524"/>
            <a:ext cx="417266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iv. Evaluate fitness of D_i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423955" y="4920005"/>
            <a:ext cx="687371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v. If fitness(D_i) &lt; fitness(lead_vocalizer):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lead_vocalizer = D_i 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1077" y="7167880"/>
            <a:ext cx="8597861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Return position of lead_vocalizer as best solution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13382" y="3081044"/>
            <a:ext cx="734591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"Est-ce que ce dhole est sorti du territoire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48880" y="502285"/>
            <a:ext cx="314051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else:  # phase == 1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55882" y="1170963"/>
            <a:ext cx="7765510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Calculate B (Eq. 2) and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Calculate D_lead (Eq. 4)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 Update position using X_lead (Eq. 5)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90522" y="1319225"/>
            <a:ext cx="5506957" cy="7648551"/>
          </a:xfrm>
          <a:custGeom>
            <a:avLst/>
            <a:gdLst/>
            <a:ahLst/>
            <a:cxnLst/>
            <a:rect r="r" b="b" t="t" l="l"/>
            <a:pathLst>
              <a:path h="7648551" w="5506957">
                <a:moveTo>
                  <a:pt x="0" y="0"/>
                </a:moveTo>
                <a:lnTo>
                  <a:pt x="5506956" y="0"/>
                </a:lnTo>
                <a:lnTo>
                  <a:pt x="5506956" y="7648550"/>
                </a:lnTo>
                <a:lnTo>
                  <a:pt x="0" y="7648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22285" y="464644"/>
            <a:ext cx="11481078" cy="149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24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DIO Algorithm Flowchart [1]</a:t>
            </a:r>
          </a:p>
          <a:p>
            <a:pPr algn="ctr">
              <a:lnSpc>
                <a:spcPts val="5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34079" y="335027"/>
            <a:ext cx="13196439" cy="173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2"/>
              </a:lnSpc>
            </a:pPr>
            <a:r>
              <a:rPr lang="en-US" sz="498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DIO vs. State-of-the-Art Benchmark Comparaison [1]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4366" y="2213770"/>
            <a:ext cx="10352464" cy="637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•Tested on CEC2017—the gold standard for optimization algorithms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- 29 different test functions (unimodal, multimodal, hybrid, composite)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Industry standard for comparing metaheuristics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•Compared against famous algorithms: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PSO (Particle Swarm Optimization)—inspired by bird flocking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GWO (Grey Wolf Optimizer)—inspired by wolf hunting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WOA (Whale Optimization Algorithm)—inspired by whale hunting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MFO (Moth-Flame Optimization)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ALO (Ant Lion Optimizer)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•Results speak for themselves: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DIO ranked 1st or 2nd on 22 out of 29 functions (22/29 )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Beats PSO and GWO consistently on complex problems</a:t>
            </a:r>
          </a:p>
          <a:p>
            <a:pPr algn="l">
              <a:lnSpc>
                <a:spcPts val="3369"/>
              </a:lnSpc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Particularly strong at avoiding local optima traps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224" y="9061132"/>
            <a:ext cx="1119536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•Bottom line: DIO is competitive with—and often better than—established algorithms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9820" y="305323"/>
            <a:ext cx="9773085" cy="97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9"/>
              </a:lnSpc>
            </a:pPr>
            <a:r>
              <a:rPr lang="en-US" sz="56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Can You Use DIO For?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15352"/>
            <a:ext cx="35737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Engineering &amp; 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22950"/>
            <a:ext cx="287829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0440" y="7255007"/>
            <a:ext cx="5357314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Other interesting domains: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4423" y="5383005"/>
            <a:ext cx="9617189" cy="1350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Selecting which features to use from high-dimensional data</a:t>
            </a:r>
          </a:p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Tuning hyperparameters for better model performance</a:t>
            </a:r>
          </a:p>
          <a:p>
            <a:pPr algn="l">
              <a:lnSpc>
                <a:spcPts val="3582"/>
              </a:lnSpc>
            </a:pPr>
            <a:r>
              <a:rPr lang="en-US" sz="255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Neural architecture search for deep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4423" y="8043815"/>
            <a:ext cx="10388203" cy="130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•- Financial portfolio optimization (maximizing returns, minimizing risk)</a:t>
            </a:r>
          </a:p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Energy grid management (balancing supply and demand)</a:t>
            </a:r>
          </a:p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Logistics and delivery route planning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423" y="2863396"/>
            <a:ext cx="9359365" cy="90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•- Structural optimization (designing bridges, aircraft parts)</a:t>
            </a:r>
          </a:p>
          <a:p>
            <a:pPr algn="l">
              <a:lnSpc>
                <a:spcPts val="3675"/>
              </a:lnSpc>
              <a:spcBef>
                <a:spcPct val="0"/>
              </a:spcBef>
            </a:pPr>
            <a:r>
              <a:rPr lang="en-US" sz="26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- Resource allocation in factories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781979" y="-214899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66422" y="7510745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46165" y="69366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1793" y="529201"/>
            <a:ext cx="13724415" cy="10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38585" indent="-669293" lvl="1">
              <a:lnSpc>
                <a:spcPts val="8680"/>
              </a:lnSpc>
              <a:spcBef>
                <a:spcPct val="0"/>
              </a:spcBef>
              <a:buAutoNum type="arabicPeriod" startAt="1"/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Nes</a:t>
            </a: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ted Optimization Framework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42271"/>
            <a:ext cx="14955756" cy="618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080" indent="-378540" lvl="1">
              <a:lnSpc>
                <a:spcPts val="4909"/>
              </a:lnSpc>
              <a:buFont typeface="Arial"/>
              <a:buChar char="•"/>
            </a:pPr>
            <a:r>
              <a:rPr lang="en-US" sz="35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Outer Loop: Hyperparameters (θ)</a:t>
            </a:r>
          </a:p>
          <a:p>
            <a:pPr algn="l" marL="757080" indent="-378540" lvl="1">
              <a:lnSpc>
                <a:spcPts val="4909"/>
              </a:lnSpc>
              <a:buFont typeface="Arial"/>
              <a:buChar char="•"/>
            </a:pPr>
            <a:r>
              <a:rPr lang="en-US" sz="35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n_estimators, max_depth, learning_rate, ...</a:t>
            </a:r>
          </a:p>
          <a:p>
            <a:pPr algn="l">
              <a:lnSpc>
                <a:spcPts val="4909"/>
              </a:lnSpc>
            </a:pPr>
          </a:p>
          <a:p>
            <a:pPr algn="l" marL="757080" indent="-378540" lvl="1">
              <a:lnSpc>
                <a:spcPts val="4909"/>
              </a:lnSpc>
              <a:buFont typeface="Arial"/>
              <a:buChar char="•"/>
            </a:pPr>
            <a:r>
              <a:rPr lang="en-US" sz="35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Inner Loop: Feature Selection (S) for each θ</a:t>
            </a:r>
          </a:p>
          <a:p>
            <a:pPr algn="l" marL="757080" indent="-378540" lvl="1">
              <a:lnSpc>
                <a:spcPts val="4909"/>
              </a:lnSpc>
              <a:buFont typeface="Arial"/>
              <a:buChar char="•"/>
            </a:pPr>
            <a:r>
              <a:rPr lang="en-US" sz="35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Binary mask over D features</a:t>
            </a:r>
          </a:p>
          <a:p>
            <a:pPr algn="l">
              <a:lnSpc>
                <a:spcPts val="4909"/>
              </a:lnSpc>
            </a:pPr>
          </a:p>
          <a:p>
            <a:pPr algn="l" marL="757080" indent="-378540" lvl="1">
              <a:lnSpc>
                <a:spcPts val="4909"/>
              </a:lnSpc>
              <a:buFont typeface="Arial"/>
              <a:buChar char="•"/>
            </a:pPr>
            <a:r>
              <a:rPr lang="en-US" sz="35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Fitness: F = 0.99 × (1 - Acc) + 0.01 × (|S|/D)</a:t>
            </a:r>
          </a:p>
          <a:p>
            <a:pPr algn="l">
              <a:lnSpc>
                <a:spcPts val="4909"/>
              </a:lnSpc>
            </a:pPr>
          </a:p>
          <a:p>
            <a:pPr algn="l" marL="757080" indent="-378540" lvl="1">
              <a:lnSpc>
                <a:spcPts val="4909"/>
              </a:lnSpc>
              <a:buFont typeface="Arial"/>
              <a:buChar char="•"/>
            </a:pPr>
            <a:r>
              <a:rPr lang="en-US" sz="35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evals = (pop_out × iter_out) × (pop_in × iter_in)</a:t>
            </a:r>
          </a:p>
          <a:p>
            <a:pPr algn="l">
              <a:lnSpc>
                <a:spcPts val="490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0034" y="373542"/>
            <a:ext cx="6307932" cy="9141930"/>
          </a:xfrm>
          <a:custGeom>
            <a:avLst/>
            <a:gdLst/>
            <a:ahLst/>
            <a:cxnLst/>
            <a:rect r="r" b="b" t="t" l="l"/>
            <a:pathLst>
              <a:path h="9141930" w="6307932">
                <a:moveTo>
                  <a:pt x="0" y="0"/>
                </a:moveTo>
                <a:lnTo>
                  <a:pt x="6307932" y="0"/>
                </a:lnTo>
                <a:lnTo>
                  <a:pt x="6307932" y="9141930"/>
                </a:lnTo>
                <a:lnTo>
                  <a:pt x="0" y="9141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3276" y="9607870"/>
            <a:ext cx="1193974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Two-level optimization Methodology: Outer loop (hyperparameters) + Inner loop (features)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9829" y="0"/>
            <a:ext cx="5265658" cy="9258300"/>
          </a:xfrm>
          <a:custGeom>
            <a:avLst/>
            <a:gdLst/>
            <a:ahLst/>
            <a:cxnLst/>
            <a:rect r="r" b="b" t="t" l="l"/>
            <a:pathLst>
              <a:path h="9258300" w="5265658">
                <a:moveTo>
                  <a:pt x="0" y="0"/>
                </a:moveTo>
                <a:lnTo>
                  <a:pt x="5265658" y="0"/>
                </a:lnTo>
                <a:lnTo>
                  <a:pt x="52656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1014" y="0"/>
            <a:ext cx="5543407" cy="9258300"/>
          </a:xfrm>
          <a:custGeom>
            <a:avLst/>
            <a:gdLst/>
            <a:ahLst/>
            <a:cxnLst/>
            <a:rect r="r" b="b" t="t" l="l"/>
            <a:pathLst>
              <a:path h="9258300" w="5543407">
                <a:moveTo>
                  <a:pt x="0" y="0"/>
                </a:moveTo>
                <a:lnTo>
                  <a:pt x="5543407" y="0"/>
                </a:lnTo>
                <a:lnTo>
                  <a:pt x="554340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40895" y="0"/>
            <a:ext cx="5543407" cy="9258300"/>
          </a:xfrm>
          <a:custGeom>
            <a:avLst/>
            <a:gdLst/>
            <a:ahLst/>
            <a:cxnLst/>
            <a:rect r="r" b="b" t="t" l="l"/>
            <a:pathLst>
              <a:path h="9258300" w="5543407">
                <a:moveTo>
                  <a:pt x="0" y="0"/>
                </a:moveTo>
                <a:lnTo>
                  <a:pt x="5543407" y="0"/>
                </a:lnTo>
                <a:lnTo>
                  <a:pt x="554340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5808" y="9481520"/>
            <a:ext cx="509381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Inner Loop: F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eature Selection Objective Func RF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9829" y="9481520"/>
            <a:ext cx="5265658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Outer Loop: Hyp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erparameter Selection Objective Func RF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26536" y="9481520"/>
            <a:ext cx="55721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running </a:t>
            </a: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optimization and retreiving results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591504" y="7008985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3743" y="-610307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891934" y="8647993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8690" y="362389"/>
            <a:ext cx="16390620" cy="10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38585" indent="-669293" lvl="1">
              <a:lnSpc>
                <a:spcPts val="8680"/>
              </a:lnSpc>
              <a:spcBef>
                <a:spcPct val="0"/>
              </a:spcBef>
              <a:buAutoNum type="arabicPeriod" startAt="1"/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Medical Domain: Breast Cancer Dataset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91507"/>
            <a:ext cx="8012589" cy="173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Wisconsin Dataset [2]: 569 samples, 30 features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48690" y="4582881"/>
            <a:ext cx="8012589" cy="347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Three 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approaches compared: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Approach 1: RF + Single-Split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Approach 2: RF + 5-Fold </a:t>
            </a:r>
            <a:r>
              <a:rPr lang="en-US" sz="3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CV</a:t>
            </a: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Approach 3: XGBoost + Single-Split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39936" y="3947159"/>
            <a:ext cx="7799374" cy="23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</a:t>
            </a:r>
            <a:r>
              <a:rPr lang="en-US" sz="3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on:</a:t>
            </a:r>
            <a:r>
              <a:rPr lang="en-US" sz="32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 independent runs</a:t>
            </a:r>
          </a:p>
          <a:p>
            <a:pPr algn="l">
              <a:lnSpc>
                <a:spcPts val="4619"/>
              </a:lnSpc>
            </a:pPr>
          </a:p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Statistical test: Wilcoxon signed-rank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248299" y="7478166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6" y="3278014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0035" y="157748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1954" y="2870170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68843" y="1095375"/>
            <a:ext cx="7150314" cy="8923948"/>
          </a:xfrm>
          <a:custGeom>
            <a:avLst/>
            <a:gdLst/>
            <a:ahLst/>
            <a:cxnLst/>
            <a:rect r="r" b="b" t="t" l="l"/>
            <a:pathLst>
              <a:path h="8923948" w="7150314">
                <a:moveTo>
                  <a:pt x="0" y="0"/>
                </a:moveTo>
                <a:lnTo>
                  <a:pt x="7150314" y="0"/>
                </a:lnTo>
                <a:lnTo>
                  <a:pt x="7150314" y="8923948"/>
                </a:lnTo>
                <a:lnTo>
                  <a:pt x="0" y="8923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11674" y="-94932"/>
            <a:ext cx="5464651" cy="78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Research Evolution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4032" y="721677"/>
            <a:ext cx="1217993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Evolution f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r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o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m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 RF S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n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g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le-Spl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t (f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a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iled) →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 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RF-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C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V (f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i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xed) → XGB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o</a:t>
            </a:r>
            <a:r>
              <a:rPr lang="en-US" sz="1799" strike="noStrike" u="none">
                <a:solidFill>
                  <a:srgbClr val="FFFFFF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ost (best)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519" y="833871"/>
            <a:ext cx="5341363" cy="7643399"/>
          </a:xfrm>
          <a:custGeom>
            <a:avLst/>
            <a:gdLst/>
            <a:ahLst/>
            <a:cxnLst/>
            <a:rect r="r" b="b" t="t" l="l"/>
            <a:pathLst>
              <a:path h="7643399" w="5341363">
                <a:moveTo>
                  <a:pt x="0" y="0"/>
                </a:moveTo>
                <a:lnTo>
                  <a:pt x="5341363" y="0"/>
                </a:lnTo>
                <a:lnTo>
                  <a:pt x="5341363" y="7643400"/>
                </a:lnTo>
                <a:lnTo>
                  <a:pt x="0" y="764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6" t="0" r="-7997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44764" y="4822832"/>
            <a:ext cx="11705717" cy="3561295"/>
          </a:xfrm>
          <a:custGeom>
            <a:avLst/>
            <a:gdLst/>
            <a:ahLst/>
            <a:cxnLst/>
            <a:rect r="r" b="b" t="t" l="l"/>
            <a:pathLst>
              <a:path h="3561295" w="11705717">
                <a:moveTo>
                  <a:pt x="0" y="0"/>
                </a:moveTo>
                <a:lnTo>
                  <a:pt x="11705717" y="0"/>
                </a:lnTo>
                <a:lnTo>
                  <a:pt x="11705717" y="3561294"/>
                </a:lnTo>
                <a:lnTo>
                  <a:pt x="0" y="356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803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65848" y="8742760"/>
            <a:ext cx="670956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(30 run) Statistical comparaison (XGBoost)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0046" y="8742760"/>
            <a:ext cx="5308836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Single run model comparaison (XGBoost)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98352" y="1174131"/>
            <a:ext cx="9998540" cy="323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  <a:spcBef>
                <a:spcPct val="0"/>
              </a:spcBef>
            </a:pP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Surprising</a:t>
            </a: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finding:</a:t>
            </a:r>
          </a:p>
          <a:p>
            <a:pPr algn="ctr" marL="661846" indent="-330923" lvl="1">
              <a:lnSpc>
                <a:spcPts val="4291"/>
              </a:lnSpc>
              <a:buAutoNum type="arabicPeriod" startAt="1"/>
            </a:pP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XGBoost didn't need cross-validation during optimization!</a:t>
            </a:r>
          </a:p>
          <a:p>
            <a:pPr algn="ctr" marL="661846" indent="-330923" lvl="1">
              <a:lnSpc>
                <a:spcPts val="4291"/>
              </a:lnSpc>
              <a:buAutoNum type="arabicPeriod" startAt="1"/>
            </a:pP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Single-split worked fine </a:t>
            </a:r>
            <a:r>
              <a:rPr lang="en-US" sz="3065" u="sng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(inherent regularization prevented overfitting)</a:t>
            </a:r>
          </a:p>
          <a:p>
            <a:pPr algn="ctr" marL="661846" indent="-330923" lvl="1">
              <a:lnSpc>
                <a:spcPts val="4291"/>
              </a:lnSpc>
              <a:buAutoNum type="arabicPeriod" startAt="1"/>
            </a:pPr>
            <a:r>
              <a:rPr lang="en-US" sz="3065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Algorithm choice </a:t>
            </a:r>
            <a:r>
              <a:rPr lang="en-US" sz="30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matters for optimization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9063" y="-94932"/>
            <a:ext cx="9149874" cy="78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XGBoost - Best approach results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591504" y="7008985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5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5" y="3278015"/>
                </a:lnTo>
                <a:lnTo>
                  <a:pt x="338575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3743" y="-610307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891934" y="8647993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71511" y="362389"/>
            <a:ext cx="9344978" cy="106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Medical Domain: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64336"/>
            <a:ext cx="12707435" cy="638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3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RF Single-Split: 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94.37% ± 2.1% (Rank #6)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p = 0.89 vs default (not significant)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 </a:t>
            </a:r>
            <a:r>
              <a:rPr lang="en-US" b="true" sz="3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RF + </a:t>
            </a:r>
            <a:r>
              <a:rPr lang="en-US" b="true" sz="3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CV: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96.55% ± 1.5% (Rank #1)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p = 0.031* vs default | 80% fewer features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🏆 </a:t>
            </a:r>
            <a:r>
              <a:rPr lang="en-US" b="true" sz="32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XGBoost: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96.88% ± 1.2% (Rank #1)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p = 0.0426* vs default | 67% fewer features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 Wilcoxon signed-rank, 30 runs, α=0.05</a:t>
            </a:r>
          </a:p>
          <a:p>
            <a:pPr algn="l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690485" y="0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53467" y="420908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17691" y="8898756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5" y="0"/>
                </a:moveTo>
                <a:lnTo>
                  <a:pt x="0" y="0"/>
                </a:lnTo>
                <a:lnTo>
                  <a:pt x="0" y="897255"/>
                </a:lnTo>
                <a:lnTo>
                  <a:pt x="926745" y="897255"/>
                </a:lnTo>
                <a:lnTo>
                  <a:pt x="9267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73158" y="441901"/>
            <a:ext cx="14816297" cy="8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Statistical Rigor: Wilcoxon Signed-Rank Test [7]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7447" y="3109568"/>
            <a:ext cx="7940863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Wilc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oxon Signed-Rank Test:</a:t>
            </a:r>
          </a:p>
          <a:p>
            <a:pPr algn="l">
              <a:lnSpc>
                <a:spcPts val="3219"/>
              </a:lnSpc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2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test (doesn't assume normal distributions)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Compares paired samples (</a:t>
            </a:r>
            <a:r>
              <a:rPr lang="en-US" sz="22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same data splits 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fairness)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Null hypothesis: 'No real difference between methods'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447" y="6856901"/>
            <a:ext cx="8012589" cy="278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esults for DIO-XGBoost vs baselines: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XGBoost Default: p = </a:t>
            </a:r>
            <a:r>
              <a:rPr lang="en-US" sz="2299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0.0411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(*) → </a:t>
            </a:r>
            <a:r>
              <a:rPr lang="en-US" sz="22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Significant improvement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Mean difference: +1.60% accuracy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RF Default: p &lt; 0.001 (***) → Highly significant improvement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3658" y="3109568"/>
            <a:ext cx="7799374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ts for DIO-RF-CV vs DIO-RF-Single: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 &lt; 0.001 (***) → Cross-validation dramatically better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Confirms </a:t>
            </a:r>
            <a:r>
              <a:rPr lang="en-US" sz="2299">
                <a:solidFill>
                  <a:srgbClr val="0CC0DF"/>
                </a:solidFill>
                <a:latin typeface="Inter"/>
                <a:ea typeface="Inter"/>
                <a:cs typeface="Inter"/>
                <a:sym typeface="Inter"/>
              </a:rPr>
              <a:t>CV is essential for RF</a:t>
            </a: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optimization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688" y="1960836"/>
            <a:ext cx="1060037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runs give us averages—but are differences real or just luck?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7389" y="6232499"/>
            <a:ext cx="9132461" cy="296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Significanc</a:t>
            </a:r>
            <a:r>
              <a:rPr lang="en-US" b="true" sz="27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 levels:</a:t>
            </a:r>
          </a:p>
          <a:p>
            <a:pPr algn="l">
              <a:lnSpc>
                <a:spcPts val="3919"/>
              </a:lnSpc>
            </a:pP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 p &lt; 0.05 (</a:t>
            </a:r>
            <a:r>
              <a:rPr lang="en-US" sz="2799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** p &lt; 0.01 (</a:t>
            </a:r>
            <a:r>
              <a:rPr lang="en-US" sz="2799">
                <a:solidFill>
                  <a:srgbClr val="7ED957"/>
                </a:solidFill>
                <a:latin typeface="Inter"/>
                <a:ea typeface="Inter"/>
                <a:cs typeface="Inter"/>
                <a:sym typeface="Inter"/>
              </a:rPr>
              <a:t>very 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*** p &lt; 0.001 (</a:t>
            </a:r>
            <a:r>
              <a:rPr lang="en-US" sz="2799">
                <a:solidFill>
                  <a:srgbClr val="00BF63"/>
                </a:solidFill>
                <a:latin typeface="Inter"/>
                <a:ea typeface="Inter"/>
                <a:cs typeface="Inter"/>
                <a:sym typeface="Inter"/>
              </a:rPr>
              <a:t>extremely 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  <a:p>
            <a:pPr algn="l" marL="604516" indent="-302258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ns = </a:t>
            </a:r>
            <a:r>
              <a:rPr lang="en-US" sz="27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not significant</a:t>
            </a: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(could be chance)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595122" y="645562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21688" y="8357864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6" y="0"/>
                </a:lnTo>
                <a:lnTo>
                  <a:pt x="3385756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65327" y="9099617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24262" y="262857"/>
            <a:ext cx="11039475" cy="102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73817" indent="-636909" lvl="1">
              <a:lnSpc>
                <a:spcPts val="8260"/>
              </a:lnSpc>
              <a:spcBef>
                <a:spcPct val="0"/>
              </a:spcBef>
              <a:buAutoNum type="arabicPeriod" startAt="1"/>
            </a:pPr>
            <a:r>
              <a:rPr lang="en-US" b="true" sz="59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Vision Domain: CIFAR-10 [3]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0917" y="2223983"/>
            <a:ext cx="8012589" cy="445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5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</a:t>
            </a:r>
            <a:r>
              <a:rPr lang="en-US" sz="2399">
                <a:solidFill>
                  <a:srgbClr val="5CE1E6"/>
                </a:solidFill>
                <a:latin typeface="Inter"/>
                <a:ea typeface="Inter"/>
                <a:cs typeface="Inter"/>
                <a:sym typeface="Inter"/>
              </a:rPr>
              <a:t>ResNet50 [4] (pretrained on ImageNet)</a:t>
            </a: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extract features</a:t>
            </a:r>
          </a:p>
          <a:p>
            <a:pPr algn="just" marL="518157" indent="-259078" lvl="1">
              <a:lnSpc>
                <a:spcPts val="35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Converted images → 2048-dimensional feature vectors (68× medical)</a:t>
            </a:r>
          </a:p>
          <a:p>
            <a:pPr algn="just" marL="518157" indent="-259078" lvl="1">
              <a:lnSpc>
                <a:spcPts val="35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Computational </a:t>
            </a:r>
            <a:r>
              <a:rPr lang="en-US" sz="2399">
                <a:solidFill>
                  <a:srgbClr val="FFBD59"/>
                </a:solidFill>
                <a:latin typeface="Inter"/>
                <a:ea typeface="Inter"/>
                <a:cs typeface="Inter"/>
                <a:sym typeface="Inter"/>
              </a:rPr>
              <a:t>subset</a:t>
            </a: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2,500 images (2000 train, 500 test)</a:t>
            </a:r>
          </a:p>
          <a:p>
            <a:pPr algn="just" marL="518157" indent="-259078" lvl="1">
              <a:lnSpc>
                <a:spcPts val="35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Applied DIO-XGBoost optimization</a:t>
            </a:r>
          </a:p>
          <a:p>
            <a:pPr algn="just" marL="518157" indent="-259078" lvl="1">
              <a:lnSpc>
                <a:spcPts val="35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Budget: 3/8 both loops → 576 evals (vs 10K medical)</a:t>
            </a:r>
          </a:p>
          <a:p>
            <a:pPr algn="just" marL="518157" indent="-259078" lvl="1">
              <a:lnSpc>
                <a:spcPts val="3551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Optimization time: 3.6 hours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8840" y="2729007"/>
            <a:ext cx="7799374" cy="3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5" indent="-291463" lvl="1">
              <a:lnSpc>
                <a:spcPts val="3995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30-run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validation (Wilcoxon):</a:t>
            </a:r>
          </a:p>
          <a:p>
            <a:pPr algn="just">
              <a:lnSpc>
                <a:spcPts val="3995"/>
              </a:lnSpc>
            </a:pPr>
          </a:p>
          <a:p>
            <a:pPr algn="just" marL="582925" indent="-291463" lvl="1">
              <a:lnSpc>
                <a:spcPts val="3995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DIO-XGBoost: 81.91% ± 1.38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</a:p>
          <a:p>
            <a:pPr algn="just" marL="582925" indent="-291463" lvl="1">
              <a:lnSpc>
                <a:spcPts val="3995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XGB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fau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lt: </a:t>
            </a:r>
            <a:r>
              <a:rPr lang="en-US" sz="26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lang="en-US" sz="2699">
                <a:solidFill>
                  <a:srgbClr val="FF3131"/>
                </a:solidFill>
                <a:latin typeface="Inter"/>
                <a:ea typeface="Inter"/>
                <a:cs typeface="Inter"/>
                <a:sym typeface="Inter"/>
              </a:rPr>
              <a:t>3.27%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± 1.25%</a:t>
            </a:r>
          </a:p>
          <a:p>
            <a:pPr algn="just">
              <a:lnSpc>
                <a:spcPts val="3995"/>
              </a:lnSpc>
            </a:pPr>
          </a:p>
          <a:p>
            <a:pPr algn="just" marL="582925" indent="-291463" lvl="1">
              <a:lnSpc>
                <a:spcPts val="3995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6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</a:t>
            </a:r>
            <a:r>
              <a:rPr lang="en-US" sz="26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7.15×10⁻⁵</a:t>
            </a:r>
            <a:r>
              <a:rPr lang="en-US" sz="26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***</a:t>
            </a:r>
            <a:r>
              <a:rPr lang="en-US" sz="26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r>
              <a:rPr lang="en-US" sz="26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</a:t>
            </a:r>
            <a:r>
              <a:rPr lang="en-US" sz="2699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significantly WORSE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-1470517" y="-1639007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4"/>
                </a:lnTo>
                <a:lnTo>
                  <a:pt x="3385756" y="3278014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314566" y="6615390"/>
            <a:ext cx="8549160" cy="152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sz="28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Cause: </a:t>
            </a:r>
            <a:r>
              <a:rPr lang="en-US" b="true" sz="288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Insufficient budget</a:t>
            </a:r>
            <a:r>
              <a:rPr lang="en-US" sz="28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for 2048-D search space—even XGBoost can't overcome severe under-budgeting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7033" y="7253565"/>
            <a:ext cx="7320359" cy="115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•Single-run result: </a:t>
            </a:r>
            <a:r>
              <a:rPr lang="en-US" sz="3299">
                <a:solidFill>
                  <a:srgbClr val="C1FF72"/>
                </a:solidFill>
                <a:latin typeface="Inter"/>
                <a:ea typeface="Inter"/>
                <a:cs typeface="Inter"/>
                <a:sym typeface="Inter"/>
              </a:rPr>
              <a:t>83.0%</a:t>
            </a:r>
            <a:r>
              <a:rPr lang="en-US" sz="3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vs 80.8% default (+2.2%)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8196" y="1892684"/>
            <a:ext cx="6831609" cy="7365616"/>
          </a:xfrm>
          <a:custGeom>
            <a:avLst/>
            <a:gdLst/>
            <a:ahLst/>
            <a:cxnLst/>
            <a:rect r="r" b="b" t="t" l="l"/>
            <a:pathLst>
              <a:path h="7365616" w="6831609">
                <a:moveTo>
                  <a:pt x="0" y="0"/>
                </a:moveTo>
                <a:lnTo>
                  <a:pt x="6831608" y="0"/>
                </a:lnTo>
                <a:lnTo>
                  <a:pt x="6831608" y="7365616"/>
                </a:lnTo>
                <a:lnTo>
                  <a:pt x="0" y="7365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9480" y="354849"/>
            <a:ext cx="9289040" cy="105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CIF</a:t>
            </a:r>
            <a:r>
              <a:rPr lang="en-US" b="true" sz="6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AR-10 Search Space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1927" y="5404365"/>
            <a:ext cx="11544147" cy="4300195"/>
          </a:xfrm>
          <a:custGeom>
            <a:avLst/>
            <a:gdLst/>
            <a:ahLst/>
            <a:cxnLst/>
            <a:rect r="r" b="b" t="t" l="l"/>
            <a:pathLst>
              <a:path h="4300195" w="11544147">
                <a:moveTo>
                  <a:pt x="0" y="0"/>
                </a:moveTo>
                <a:lnTo>
                  <a:pt x="11544146" y="0"/>
                </a:lnTo>
                <a:lnTo>
                  <a:pt x="11544146" y="4300195"/>
                </a:lnTo>
                <a:lnTo>
                  <a:pt x="0" y="4300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412"/>
            <a:ext cx="11301259" cy="4690022"/>
          </a:xfrm>
          <a:custGeom>
            <a:avLst/>
            <a:gdLst/>
            <a:ahLst/>
            <a:cxnLst/>
            <a:rect r="r" b="b" t="t" l="l"/>
            <a:pathLst>
              <a:path h="4690022" w="11301259">
                <a:moveTo>
                  <a:pt x="0" y="0"/>
                </a:moveTo>
                <a:lnTo>
                  <a:pt x="11301258" y="0"/>
                </a:lnTo>
                <a:lnTo>
                  <a:pt x="11301258" y="4690022"/>
                </a:lnTo>
                <a:lnTo>
                  <a:pt x="0" y="4690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49141" y="9643873"/>
            <a:ext cx="678971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(30 run) Statistical comparaison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9582" y="4780159"/>
            <a:ext cx="530883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BFCFC"/>
                </a:solidFill>
                <a:latin typeface="Parmigiano Caption"/>
                <a:ea typeface="Parmigiano Caption"/>
                <a:cs typeface="Parmigiano Caption"/>
                <a:sym typeface="Parmigiano Caption"/>
              </a:rPr>
              <a:t>Single run model comparaison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82955" y="912647"/>
            <a:ext cx="6252474" cy="9112635"/>
          </a:xfrm>
          <a:custGeom>
            <a:avLst/>
            <a:gdLst/>
            <a:ahLst/>
            <a:cxnLst/>
            <a:rect r="r" b="b" t="t" l="l"/>
            <a:pathLst>
              <a:path h="9112635" w="6252474">
                <a:moveTo>
                  <a:pt x="0" y="0"/>
                </a:moveTo>
                <a:lnTo>
                  <a:pt x="6252474" y="0"/>
                </a:lnTo>
                <a:lnTo>
                  <a:pt x="6252474" y="9112635"/>
                </a:lnTo>
                <a:lnTo>
                  <a:pt x="0" y="9112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00" r="-346" b="-1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747"/>
            <a:ext cx="16541703" cy="76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b="true" sz="44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CIFAR-10: Statistical Analysis of Optimizataion Failure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40220" y="9987182"/>
            <a:ext cx="97061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30-run validation reveals DIO underperforms defaults: 81.91% vs 83.27% (p&lt;0.0001)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15478" y="1028700"/>
            <a:ext cx="4418219" cy="8943619"/>
          </a:xfrm>
          <a:custGeom>
            <a:avLst/>
            <a:gdLst/>
            <a:ahLst/>
            <a:cxnLst/>
            <a:rect r="r" b="b" t="t" l="l"/>
            <a:pathLst>
              <a:path h="8943619" w="4418219">
                <a:moveTo>
                  <a:pt x="0" y="0"/>
                </a:moveTo>
                <a:lnTo>
                  <a:pt x="4418219" y="0"/>
                </a:lnTo>
                <a:lnTo>
                  <a:pt x="4418219" y="8943619"/>
                </a:lnTo>
                <a:lnTo>
                  <a:pt x="0" y="894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0643" y="30061"/>
            <a:ext cx="7227888" cy="78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Cross-Domain Framework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20503" y="1028700"/>
            <a:ext cx="5646994" cy="8588841"/>
          </a:xfrm>
          <a:custGeom>
            <a:avLst/>
            <a:gdLst/>
            <a:ahLst/>
            <a:cxnLst/>
            <a:rect r="r" b="b" t="t" l="l"/>
            <a:pathLst>
              <a:path h="8588841" w="5646994">
                <a:moveTo>
                  <a:pt x="0" y="0"/>
                </a:moveTo>
                <a:lnTo>
                  <a:pt x="5646994" y="0"/>
                </a:lnTo>
                <a:lnTo>
                  <a:pt x="5646994" y="8588841"/>
                </a:lnTo>
                <a:lnTo>
                  <a:pt x="0" y="8588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69122" y="30061"/>
            <a:ext cx="4910932" cy="78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Results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30958" y="9816982"/>
            <a:ext cx="932465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omplete comparison: Medical (96.9%, SUCCESS) vs CIFAR-10 (81.91%, FAILURE)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8603" y="4319502"/>
            <a:ext cx="8653903" cy="41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RF+CV: p=0.031* | XGBoost: p=0.0426*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83426" y="3492488"/>
            <a:ext cx="7158267" cy="39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Algorithm choice determines CV need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16900" y="3311103"/>
            <a:ext cx="254200" cy="1454012"/>
            <a:chOff x="0" y="0"/>
            <a:chExt cx="66950" cy="38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747394" y="6334872"/>
            <a:ext cx="8644637" cy="44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Medical: p&lt;0.05</a:t>
            </a: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✓ | CIFAR: p=7.15×10⁻⁵ ✗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3426" y="5605961"/>
            <a:ext cx="7218954" cy="129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45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 Budget must scale with dimensionality</a:t>
            </a:r>
          </a:p>
          <a:p>
            <a:pPr algn="l">
              <a:lnSpc>
                <a:spcPts val="3442"/>
              </a:lnSpc>
            </a:pPr>
          </a:p>
          <a:p>
            <a:pPr algn="l">
              <a:lnSpc>
                <a:spcPts val="344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9526" y="3748002"/>
            <a:ext cx="8646651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7394" y="1661522"/>
            <a:ext cx="8813597" cy="790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RF s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ingle-split: p=0.89 (no gain vs default)</a:t>
            </a:r>
          </a:p>
          <a:p>
            <a:pPr algn="l">
              <a:lnSpc>
                <a:spcPts val="31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83426" y="792204"/>
            <a:ext cx="6867913" cy="41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  <a:spcBef>
                <a:spcPct val="0"/>
              </a:spcBef>
            </a:pPr>
            <a:r>
              <a:rPr lang="en-US" b="true" sz="237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Optimization overfitting is real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16900" y="849354"/>
            <a:ext cx="254200" cy="1454012"/>
            <a:chOff x="0" y="0"/>
            <a:chExt cx="66950" cy="38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3613718" y="-1016812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837421" y="7619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056012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583426" y="7967558"/>
            <a:ext cx="7218954" cy="129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45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4. 30-run validation essential</a:t>
            </a:r>
          </a:p>
          <a:p>
            <a:pPr algn="l">
              <a:lnSpc>
                <a:spcPts val="3442"/>
              </a:lnSpc>
            </a:pPr>
          </a:p>
          <a:p>
            <a:pPr algn="l">
              <a:lnSpc>
                <a:spcPts val="3442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831874" y="8825028"/>
            <a:ext cx="8644637" cy="44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Single-run can show +2.2%</a:t>
            </a: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that vanishes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42200" y="8012473"/>
            <a:ext cx="254200" cy="1454012"/>
            <a:chOff x="0" y="0"/>
            <a:chExt cx="66950" cy="3829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42200" y="5663111"/>
            <a:ext cx="254200" cy="1454012"/>
            <a:chOff x="0" y="0"/>
            <a:chExt cx="66950" cy="3829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28603" y="4319502"/>
            <a:ext cx="8653903" cy="17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Combine DIO (global search) with l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ocal refinement (Bayesian optimization)</a:t>
            </a:r>
          </a:p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DIO for exploration, gradient methods for exploitation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83426" y="3492488"/>
            <a:ext cx="7158267" cy="39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Hybrid Optimization Strategies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16900" y="4416494"/>
            <a:ext cx="254200" cy="1454012"/>
            <a:chOff x="0" y="0"/>
            <a:chExt cx="66950" cy="382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737869" y="7168364"/>
            <a:ext cx="8644637" cy="223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Other medical tasks: multi-class diagnosis, survival prediction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eural architecture search with DIO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Fairness-aware feature selection (removing biased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3426" y="6355039"/>
            <a:ext cx="7279641" cy="130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7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 Broader Applications</a:t>
            </a:r>
          </a:p>
          <a:p>
            <a:pPr algn="l">
              <a:lnSpc>
                <a:spcPts val="3471"/>
              </a:lnSpc>
            </a:pPr>
          </a:p>
          <a:p>
            <a:pPr algn="l">
              <a:lnSpc>
                <a:spcPts val="3471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016900" y="7225514"/>
            <a:ext cx="254200" cy="2032786"/>
            <a:chOff x="0" y="0"/>
            <a:chExt cx="66950" cy="5353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950" cy="535384"/>
            </a:xfrm>
            <a:custGeom>
              <a:avLst/>
              <a:gdLst/>
              <a:ahLst/>
              <a:cxnLst/>
              <a:rect r="r" b="b" t="t" l="l"/>
              <a:pathLst>
                <a:path h="535384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501909"/>
                  </a:lnTo>
                  <a:cubicBezTo>
                    <a:pt x="66950" y="520397"/>
                    <a:pt x="51963" y="535384"/>
                    <a:pt x="33475" y="535384"/>
                  </a:cubicBezTo>
                  <a:lnTo>
                    <a:pt x="33475" y="535384"/>
                  </a:lnTo>
                  <a:cubicBezTo>
                    <a:pt x="24597" y="535384"/>
                    <a:pt x="16082" y="531857"/>
                    <a:pt x="9805" y="525579"/>
                  </a:cubicBezTo>
                  <a:cubicBezTo>
                    <a:pt x="3527" y="519302"/>
                    <a:pt x="0" y="510787"/>
                    <a:pt x="0" y="501909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950" cy="57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40788" y="3572620"/>
            <a:ext cx="8646651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Future Research Directions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4403" y="1571318"/>
            <a:ext cx="8813597" cy="119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Automatically adjust p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opulation size based on dimensionality</a:t>
            </a:r>
          </a:p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Develop formulas: budget ≈ k × D² (where D = dimensions)</a:t>
            </a:r>
          </a:p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Balance computational cost with quality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8603" y="792204"/>
            <a:ext cx="6867913" cy="41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  <a:spcBef>
                <a:spcPct val="0"/>
              </a:spcBef>
            </a:pPr>
            <a:r>
              <a:rPr lang="en-US" b="true" sz="237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Adaptive Budget Allocation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16900" y="1463168"/>
            <a:ext cx="254200" cy="1454012"/>
            <a:chOff x="0" y="0"/>
            <a:chExt cx="66950" cy="3829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950" cy="382950"/>
            </a:xfrm>
            <a:custGeom>
              <a:avLst/>
              <a:gdLst/>
              <a:ahLst/>
              <a:cxnLst/>
              <a:rect r="r" b="b" t="t" l="l"/>
              <a:pathLst>
                <a:path h="382950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349475"/>
                  </a:lnTo>
                  <a:cubicBezTo>
                    <a:pt x="66950" y="367962"/>
                    <a:pt x="51963" y="382950"/>
                    <a:pt x="33475" y="382950"/>
                  </a:cubicBezTo>
                  <a:lnTo>
                    <a:pt x="33475" y="382950"/>
                  </a:lnTo>
                  <a:cubicBezTo>
                    <a:pt x="14987" y="382950"/>
                    <a:pt x="0" y="367962"/>
                    <a:pt x="0" y="349475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6950" cy="421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true" flipV="false" rot="0">
            <a:off x="3613718" y="-1016812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837421" y="7619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056012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68239" y="3108461"/>
            <a:ext cx="8653903" cy="84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840" indent="-260420" lvl="1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DIO-RF-CV: 96.55%, 6 featu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4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Best interpretability, 80% cost reduction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28603" y="6337352"/>
            <a:ext cx="7158267" cy="39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1"/>
              </a:lnSpc>
              <a:spcBef>
                <a:spcPct val="0"/>
              </a:spcBef>
            </a:pPr>
            <a:r>
              <a:rPr lang="en-US" b="true" sz="231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Golden Rules: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83426" y="7321458"/>
            <a:ext cx="8644637" cy="178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Always validate with 30+ runs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statistical tests (Wilcoxon)</a:t>
            </a:r>
          </a:p>
          <a:p>
            <a:pPr algn="l" marL="544879" indent="-272440" lvl="1">
              <a:lnSpc>
                <a:spcPts val="3533"/>
              </a:lnSpc>
              <a:buFont typeface="Arial"/>
              <a:buChar char="•"/>
            </a:pP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</a:t>
            </a:r>
            <a:r>
              <a:rPr lang="en-US" sz="25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ale budget with dimensionality</a:t>
            </a:r>
          </a:p>
          <a:p>
            <a:pPr algn="l">
              <a:lnSpc>
                <a:spcPts val="353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016900" y="7072419"/>
            <a:ext cx="254200" cy="2032786"/>
            <a:chOff x="0" y="0"/>
            <a:chExt cx="66950" cy="5353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950" cy="535384"/>
            </a:xfrm>
            <a:custGeom>
              <a:avLst/>
              <a:gdLst/>
              <a:ahLst/>
              <a:cxnLst/>
              <a:rect r="r" b="b" t="t" l="l"/>
              <a:pathLst>
                <a:path h="535384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501909"/>
                  </a:lnTo>
                  <a:cubicBezTo>
                    <a:pt x="66950" y="520397"/>
                    <a:pt x="51963" y="535384"/>
                    <a:pt x="33475" y="535384"/>
                  </a:cubicBezTo>
                  <a:lnTo>
                    <a:pt x="33475" y="535384"/>
                  </a:lnTo>
                  <a:cubicBezTo>
                    <a:pt x="24597" y="535384"/>
                    <a:pt x="16082" y="531857"/>
                    <a:pt x="9805" y="525579"/>
                  </a:cubicBezTo>
                  <a:cubicBezTo>
                    <a:pt x="3527" y="519302"/>
                    <a:pt x="0" y="510787"/>
                    <a:pt x="0" y="501909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950" cy="573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3341" y="3411199"/>
            <a:ext cx="8646651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Practical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68239" y="1748274"/>
            <a:ext cx="8813597" cy="93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🏆 DIO-XGBoost: 96.88%, 10 feat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ures</a:t>
            </a:r>
          </a:p>
          <a:p>
            <a:pPr algn="l">
              <a:lnSpc>
                <a:spcPts val="5450"/>
              </a:lnSpc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Best accuracy, use when resources available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3426" y="742145"/>
            <a:ext cx="6867913" cy="834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37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 Healthcare ML Deployment:</a:t>
            </a:r>
          </a:p>
          <a:p>
            <a:pPr algn="l">
              <a:lnSpc>
                <a:spcPts val="332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016900" y="1463168"/>
            <a:ext cx="254200" cy="4181812"/>
            <a:chOff x="0" y="0"/>
            <a:chExt cx="66950" cy="11013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950" cy="1101382"/>
            </a:xfrm>
            <a:custGeom>
              <a:avLst/>
              <a:gdLst/>
              <a:ahLst/>
              <a:cxnLst/>
              <a:rect r="r" b="b" t="t" l="l"/>
              <a:pathLst>
                <a:path h="1101382" w="66950">
                  <a:moveTo>
                    <a:pt x="33475" y="0"/>
                  </a:moveTo>
                  <a:lnTo>
                    <a:pt x="33475" y="0"/>
                  </a:lnTo>
                  <a:cubicBezTo>
                    <a:pt x="42353" y="0"/>
                    <a:pt x="50868" y="3527"/>
                    <a:pt x="57145" y="9805"/>
                  </a:cubicBezTo>
                  <a:cubicBezTo>
                    <a:pt x="63423" y="16082"/>
                    <a:pt x="66950" y="24597"/>
                    <a:pt x="66950" y="33475"/>
                  </a:cubicBezTo>
                  <a:lnTo>
                    <a:pt x="66950" y="1067908"/>
                  </a:lnTo>
                  <a:cubicBezTo>
                    <a:pt x="66950" y="1086395"/>
                    <a:pt x="51963" y="1101382"/>
                    <a:pt x="33475" y="1101382"/>
                  </a:cubicBezTo>
                  <a:lnTo>
                    <a:pt x="33475" y="1101382"/>
                  </a:lnTo>
                  <a:cubicBezTo>
                    <a:pt x="14987" y="1101382"/>
                    <a:pt x="0" y="1086395"/>
                    <a:pt x="0" y="1067908"/>
                  </a:cubicBezTo>
                  <a:lnTo>
                    <a:pt x="0" y="33475"/>
                  </a:lnTo>
                  <a:cubicBezTo>
                    <a:pt x="0" y="14987"/>
                    <a:pt x="14987" y="0"/>
                    <a:pt x="33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950" cy="1139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3613718" y="-1016812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37421" y="7619293"/>
            <a:ext cx="3385756" cy="3278015"/>
          </a:xfrm>
          <a:custGeom>
            <a:avLst/>
            <a:gdLst/>
            <a:ahLst/>
            <a:cxnLst/>
            <a:rect r="r" b="b" t="t" l="l"/>
            <a:pathLst>
              <a:path h="3278015" w="3385756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056012" y="8361045"/>
            <a:ext cx="926746" cy="897255"/>
          </a:xfrm>
          <a:custGeom>
            <a:avLst/>
            <a:gdLst/>
            <a:ahLst/>
            <a:cxnLst/>
            <a:rect r="r" b="b" t="t" l="l"/>
            <a:pathLst>
              <a:path h="897255" w="926746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968239" y="4353464"/>
            <a:ext cx="8813597" cy="790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359" indent="-245180" lvl="1">
              <a:lnSpc>
                <a:spcPts val="3179"/>
              </a:lnSpc>
              <a:buFont typeface="Arial"/>
              <a:buChar char="•"/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⚠ DIO-RF-Single: 94.37%, 8 feat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ures</a:t>
            </a:r>
          </a:p>
          <a:p>
            <a:pPr algn="l">
              <a:lnSpc>
                <a:spcPts val="3179"/>
              </a:lnSpc>
            </a:pP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27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Only for rapid prototyping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9312" y="2479354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38116" y="706697"/>
            <a:ext cx="9411768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DIO: Key Advantages</a:t>
            </a:r>
          </a:p>
          <a:p>
            <a:pPr algn="ctr">
              <a:lnSpc>
                <a:spcPts val="868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099312" y="3570327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99312" y="4662218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4"/>
                </a:lnTo>
                <a:lnTo>
                  <a:pt x="0" y="73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99312" y="6103200"/>
            <a:ext cx="763649" cy="731715"/>
          </a:xfrm>
          <a:custGeom>
            <a:avLst/>
            <a:gdLst/>
            <a:ahLst/>
            <a:cxnLst/>
            <a:rect r="r" b="b" t="t" l="l"/>
            <a:pathLst>
              <a:path h="731715" w="763649">
                <a:moveTo>
                  <a:pt x="0" y="0"/>
                </a:moveTo>
                <a:lnTo>
                  <a:pt x="763649" y="0"/>
                </a:lnTo>
                <a:lnTo>
                  <a:pt x="763649" y="731715"/>
                </a:lnTo>
                <a:lnTo>
                  <a:pt x="0" y="7317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27472" y="2577158"/>
            <a:ext cx="4793153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Superior convergence speed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7622" y="3823084"/>
            <a:ext cx="7061066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Excellent exploration-exploitation balance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27522" y="4914975"/>
            <a:ext cx="5987939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Outstanding local minima avoidance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6060" y="6355958"/>
            <a:ext cx="3452095" cy="4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sz="277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Easy implementation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04299" y="594933"/>
            <a:ext cx="8279403" cy="109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4"/>
              </a:lnSpc>
            </a:pPr>
            <a:r>
              <a:rPr lang="en-US" sz="638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DIO: Key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23126" y="2453884"/>
            <a:ext cx="851797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Parameter sensitivity (population size, iterations)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3126" y="3825491"/>
            <a:ext cx="860214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computational cost for large-scale problems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0390" y="5340514"/>
            <a:ext cx="7350443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Variable performance across problem types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1794" y="384768"/>
            <a:ext cx="10114158" cy="215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5. Conclusion: Key Contributions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924751" y="8311780"/>
            <a:ext cx="605849" cy="580513"/>
          </a:xfrm>
          <a:custGeom>
            <a:avLst/>
            <a:gdLst/>
            <a:ahLst/>
            <a:cxnLst/>
            <a:rect r="r" b="b" t="t" l="l"/>
            <a:pathLst>
              <a:path h="580513" w="605849">
                <a:moveTo>
                  <a:pt x="0" y="0"/>
                </a:moveTo>
                <a:lnTo>
                  <a:pt x="605849" y="0"/>
                </a:lnTo>
                <a:lnTo>
                  <a:pt x="605849" y="580513"/>
                </a:lnTo>
                <a:lnTo>
                  <a:pt x="0" y="58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30600" y="3188722"/>
            <a:ext cx="11075353" cy="570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Discovered 'Optimization Overfitting'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Use CV during optimization, not just evaluation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Algorithm-Dependent Strategies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RF needs CV; XGBoost more robust but not immune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Budget Scaling Laws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→ Budget must scale with dimensionality²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DIO-XGBoost Success: 96.88% accuracy, 67% fewer features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Bottom line: Optimization needs adequate computational investment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99272" y="413148"/>
            <a:ext cx="6289457" cy="14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sz="859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093465"/>
            <a:ext cx="18288000" cy="819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[1] El Romeh, A., Mirjalili, S., &amp; Šnel, V. (2025). Dholes-Inspired Optimization (DIO). Cluster Computing (Springer). </a:t>
            </a:r>
            <a:r>
              <a:rPr lang="en-US" sz="2599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2" tooltip="https://link.springer.com/article/10.1007/s10586-025-05543-2"/>
              </a:rPr>
              <a:t>DOI</a:t>
            </a: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10.1007/s10586-025-05543-2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[2] Dua, D. &amp; Graff, C. (2019). UCI Machine Learning Repository: Breast Cancer Wisconsin (Diagnostic) Data Set. University of California, Irvine.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[3] Krizhevsky, A. (2009). Learning Multiple Layers of Features from Tiny Images. Technical Report, University of Toronto.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[4] He, K., Zhang, X., Ren, S., &amp; Sun, J. (2016). Deep Residual Learning for Image Recognition. IEEE CVPR.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[5] Chen, T. &amp; Guestrin, C. (2016). XGBoost: A Scalable Tree Boosting System. KDD '16.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[6] Breiman, L. (2001). Random Forests. Machine Learning, 45(1), 5-32.</a:t>
            </a:r>
          </a:p>
          <a:p>
            <a:pPr algn="l" marL="561336" indent="-280668" lvl="1">
              <a:lnSpc>
                <a:spcPts val="5953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[7] Wilcoxon, F. (1945). Individual Comparisons by Ranking Methods. Biometrics Bulletin, 1(6), 80-83.</a:t>
            </a:r>
          </a:p>
          <a:p>
            <a:pPr algn="l">
              <a:lnSpc>
                <a:spcPts val="5953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02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8370" y="2880773"/>
            <a:ext cx="1061126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 for your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DAG6Au1ISEg</dc:identifier>
  <dcterms:modified xsi:type="dcterms:W3CDTF">2011-08-01T06:04:30Z</dcterms:modified>
  <cp:revision>1</cp:revision>
  <dc:title>Dholes-Inspired Optimization (DIO)</dc:title>
</cp:coreProperties>
</file>