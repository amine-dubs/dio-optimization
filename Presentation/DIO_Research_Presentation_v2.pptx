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Dholes-Inspired Optimization (DIO)</a:t>
            </a:r>
            <a:br/>
            <a:r>
              <a:t>for Feature Selection &amp; 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Cross-Domain Validation: From Medical Diagnostics to Computer Vision</a:t>
            </a:r>
            <a:br/>
            <a:br/>
            <a:r>
              <a:t>USTO-MB | Computer Science | Data Science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Students: Bellatreche Mohamed Amine, Cherif Ghizlane Iman</a:t>
            </a:r>
          </a:p>
          <a:p>
            <a:pPr>
              <a:defRPr sz="2000"/>
            </a:pPr>
            <a:r>
              <a:t>University: USTO-MB (Université des Sciences et de la Technologie d'Oran)</a:t>
            </a:r>
          </a:p>
          <a:p>
            <a:pPr>
              <a:defRPr sz="2000"/>
            </a:pPr>
            <a:r>
              <a:t>Department: Computer Science</a:t>
            </a:r>
          </a:p>
          <a:p>
            <a:pPr>
              <a:defRPr sz="2000"/>
            </a:pPr>
            <a:r>
              <a:t>Specialty: Data Science</a:t>
            </a:r>
          </a:p>
          <a:p>
            <a:pPr>
              <a:defRPr sz="2000"/>
            </a:pPr>
            <a:r>
              <a:t>Course: Statistics in Data Science</a:t>
            </a:r>
          </a:p>
          <a:p>
            <a:pPr>
              <a:defRPr sz="2000"/>
            </a:pPr>
            <a:r>
              <a:t>Professor: Dr. Neggaz Nabil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 journey through optimization—from success to failure to deeper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Introduction</a:t>
            </a:r>
          </a:p>
          <a:p>
            <a:pPr>
              <a:defRPr sz="2000"/>
            </a:pPr>
            <a:r>
              <a:t>1. Dholes-Inspired Optimization (DIO)</a:t>
            </a:r>
          </a:p>
          <a:p>
            <a:pPr>
              <a:defRPr sz="2000"/>
            </a:pPr>
            <a:r>
              <a:t>    1.1 History &amp; Origins</a:t>
            </a:r>
          </a:p>
          <a:p>
            <a:pPr>
              <a:defRPr sz="2000"/>
            </a:pPr>
            <a:r>
              <a:t>    1.2 How DIO Works</a:t>
            </a:r>
          </a:p>
          <a:p>
            <a:pPr>
              <a:defRPr sz="2000"/>
            </a:pPr>
            <a:r>
              <a:t>    1.3 Benchmark Comparisons</a:t>
            </a:r>
          </a:p>
          <a:p>
            <a:pPr>
              <a:defRPr sz="2000"/>
            </a:pPr>
            <a:r>
              <a:t>    1.4 Applications</a:t>
            </a:r>
          </a:p>
          <a:p>
            <a:pPr>
              <a:defRPr sz="2000"/>
            </a:pPr>
            <a:r>
              <a:t>2. Optimization Across Domains</a:t>
            </a:r>
          </a:p>
          <a:p>
            <a:pPr>
              <a:defRPr sz="2000"/>
            </a:pPr>
            <a:r>
              <a:t>    2.1 The Challenge We Faced</a:t>
            </a:r>
          </a:p>
          <a:p>
            <a:pPr>
              <a:defRPr sz="2000"/>
            </a:pPr>
            <a:r>
              <a:t>    2.2 Optimization Methodology</a:t>
            </a:r>
          </a:p>
          <a:p>
            <a:pPr>
              <a:defRPr sz="2000"/>
            </a:pPr>
            <a:r>
              <a:t>    2.3 Medical Domain: Breast Cancer</a:t>
            </a:r>
          </a:p>
          <a:p>
            <a:pPr>
              <a:defRPr sz="2000"/>
            </a:pPr>
            <a:r>
              <a:t>    2.4 Computer Vision: CIFAR-10</a:t>
            </a:r>
          </a:p>
          <a:p>
            <a:pPr>
              <a:defRPr sz="2000"/>
            </a:pPr>
            <a:r>
              <a:t>    2.5 Cross-Domain Insights</a:t>
            </a:r>
          </a:p>
          <a:p>
            <a:pPr>
              <a:defRPr sz="2000"/>
            </a:pPr>
            <a:r>
              <a:t>3. Future Research Directions</a:t>
            </a:r>
          </a:p>
          <a:p>
            <a:pPr>
              <a:defRPr sz="2000"/>
            </a:pPr>
            <a:r>
              <a:t>4. Conclusion &amp; Key Contributions</a:t>
            </a:r>
          </a:p>
          <a:p>
            <a:pPr>
              <a:defRPr sz="2000"/>
            </a:pPr>
            <a:r>
              <a:t>5.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Why This Research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Breast cancer is one of the deadliest diseases affecting women worldwide [2]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Machine learning shows promise, but faces real challenges:</a:t>
            </a:r>
          </a:p>
          <a:p>
            <a:pPr>
              <a:defRPr sz="2000"/>
            </a:pPr>
            <a:r>
              <a:t>  - Medical datasets have 30+ features—which ones really matter?</a:t>
            </a:r>
          </a:p>
          <a:p>
            <a:pPr>
              <a:defRPr sz="2000"/>
            </a:pPr>
            <a:r>
              <a:t>  - A model's success depends on both the features AND its settings</a:t>
            </a:r>
          </a:p>
          <a:p>
            <a:pPr>
              <a:defRPr sz="2000"/>
            </a:pPr>
            <a:r>
              <a:t>  - Picking features first, then tuning later misses important connections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old way: Choose features → Train model → Tune parameters</a:t>
            </a:r>
          </a:p>
          <a:p>
            <a:pPr>
              <a:defRPr sz="2000"/>
            </a:pPr>
            <a:r>
              <a:t>The problem: What if the best features change depending on the parameters?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Our approach: Optimize both together using DIO [1]</a:t>
            </a:r>
          </a:p>
          <a:p>
            <a:pPr>
              <a:defRPr sz="2000"/>
            </a:pPr>
            <a:r>
              <a:t>  - Single-split RF: 5 dholes/10 iter (outer), 10 dholes/20 iter (inner)</a:t>
            </a:r>
          </a:p>
          <a:p>
            <a:pPr>
              <a:defRPr sz="2000"/>
            </a:pPr>
            <a:r>
              <a:t>  - Single-split XGBoost: 5 dholes/10 iter (both loops)</a:t>
            </a:r>
          </a:p>
          <a:p>
            <a:pPr>
              <a:defRPr sz="2000"/>
            </a:pPr>
            <a:r>
              <a:t>  - CV-based RF: 5 dholes/10 iter (outer), 10 dholes/20 iter (inner)</a:t>
            </a:r>
          </a:p>
          <a:p>
            <a:pPr>
              <a:defRPr sz="2000"/>
            </a:pPr>
            <a:r>
              <a:t>  - CIFAR-10 XGBoost: 3 dholes/8 iter (both loops)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This presentation tells the story of what we discovered—successes, failures, and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Dholes-Inspired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cutting-edge optimization algorithm inspired by wild dog hunting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What we'll cover:</a:t>
            </a:r>
          </a:p>
          <a:p>
            <a:pPr>
              <a:defRPr sz="2000"/>
            </a:pPr>
            <a:r>
              <a:t>  - Where DIO came from and who created it</a:t>
            </a:r>
          </a:p>
          <a:p>
            <a:pPr>
              <a:defRPr sz="2000"/>
            </a:pPr>
            <a:r>
              <a:t>  - How it actually works (the hunting strategies)</a:t>
            </a:r>
          </a:p>
          <a:p>
            <a:pPr>
              <a:defRPr sz="2000"/>
            </a:pPr>
            <a:r>
              <a:t>  - How it compares to other popular algorithms</a:t>
            </a:r>
          </a:p>
          <a:p>
            <a:pPr>
              <a:defRPr sz="2000"/>
            </a:pPr>
            <a:r>
              <a:t>  - What you can use it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DIO: History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Created in 2025 by international researchers [1]:</a:t>
            </a:r>
          </a:p>
          <a:p>
            <a:pPr>
              <a:defRPr sz="2000"/>
            </a:pPr>
            <a:r>
              <a:t>  - Dr. Seyedali Mirjalili (Torrens University, Australia)</a:t>
            </a:r>
          </a:p>
          <a:p>
            <a:pPr>
              <a:defRPr sz="2000"/>
            </a:pPr>
            <a:r>
              <a:t>  - Ali El Romeh (Torrens University, Australia)</a:t>
            </a:r>
          </a:p>
          <a:p>
            <a:pPr>
              <a:defRPr sz="2000"/>
            </a:pPr>
            <a:r>
              <a:t>  - Václav Šnel (VSB-Technical University, Czech Republic)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Published in Cluster Computing (Springer)—a prestigious journal</a:t>
            </a:r>
          </a:p>
          <a:p>
            <a:pPr>
              <a:defRPr sz="2000"/>
            </a:pPr>
            <a:r>
              <a:t>  - DOI: 10.1007/s10586-025-05543-2</a:t>
            </a:r>
          </a:p>
          <a:p>
            <a:pPr>
              <a:defRPr sz="2000"/>
            </a:pPr>
            <a:r>
              <a:t>  - Peer-reviewed and rigorously tested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dholes? These Asian wild dogs are fascinating:</a:t>
            </a:r>
          </a:p>
          <a:p>
            <a:pPr>
              <a:defRPr sz="2000"/>
            </a:pPr>
            <a:r>
              <a:t>  - Hunt in packs with amazing coordination</a:t>
            </a:r>
          </a:p>
          <a:p>
            <a:pPr>
              <a:defRPr sz="2000"/>
            </a:pPr>
            <a:r>
              <a:t>  - Each member has a role but adapts flexibly</a:t>
            </a:r>
          </a:p>
          <a:p>
            <a:pPr>
              <a:defRPr sz="2000"/>
            </a:pPr>
            <a:r>
              <a:t>  - Balance independence with teamwork perfectly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Code is open-source: Available on GitHub and MATLAB File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How DIO Works: The Hunting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DIO translates dhole pack hunting into mathematics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Dholes use three hunting strategies: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Strategy 1: Chase the Leader</a:t>
            </a:r>
          </a:p>
          <a:p>
            <a:pPr>
              <a:defRPr sz="2000"/>
            </a:pPr>
            <a:r>
              <a:t>  - Follow the best hunter toward the prey</a:t>
            </a:r>
          </a:p>
          <a:p>
            <a:pPr>
              <a:defRPr sz="2000"/>
            </a:pPr>
            <a:r>
              <a:t>  - In optimization: Exploit the best solution found so far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Strategy 2: Try Random Directions  </a:t>
            </a:r>
          </a:p>
          <a:p>
            <a:pPr>
              <a:defRPr sz="2000"/>
            </a:pPr>
            <a:r>
              <a:t>  - Check what other pack members are discovering</a:t>
            </a:r>
          </a:p>
          <a:p>
            <a:pPr>
              <a:defRPr sz="2000"/>
            </a:pPr>
            <a:r>
              <a:t>  - In optimization: Explore new areas of the search space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Strategy 3: Stick with the Pack</a:t>
            </a:r>
          </a:p>
          <a:p>
            <a:pPr>
              <a:defRPr sz="2000"/>
            </a:pPr>
            <a:r>
              <a:t>  - Move toward the group's center</a:t>
            </a:r>
          </a:p>
          <a:p>
            <a:pPr>
              <a:defRPr sz="2000"/>
            </a:pPr>
            <a:r>
              <a:t>  - In optimization: Balance between extremes, avoid getting stuck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insight: Combining all three prevents premature convergence while maintaining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Dholes: From Biology to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Dhole (Cuon alpinus): The Asiatic wild dog</a:t>
            </a:r>
          </a:p>
          <a:p>
            <a:pPr>
              <a:defRPr sz="2000"/>
            </a:pPr>
            <a:r>
              <a:t>  - Lives in forests across Central, East, and Southeast Asia</a:t>
            </a:r>
          </a:p>
          <a:p>
            <a:pPr>
              <a:defRPr sz="2000"/>
            </a:pPr>
            <a:r>
              <a:t>  - Packs of 5-40 individuals with complex social structures</a:t>
            </a:r>
          </a:p>
          <a:p>
            <a:pPr>
              <a:defRPr sz="2000"/>
            </a:pPr>
            <a:r>
              <a:t>  - Vocal communication (hence 'vocalization' in the math)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How biology maps to the algorithm:</a:t>
            </a:r>
          </a:p>
          <a:p>
            <a:pPr>
              <a:defRPr sz="2000"/>
            </a:pPr>
            <a:r>
              <a:t>  - Pack leader → Best solution guides the search</a:t>
            </a:r>
          </a:p>
          <a:p>
            <a:pPr>
              <a:defRPr sz="2000"/>
            </a:pPr>
            <a:r>
              <a:t>  - Vocal signals → 'Vocalization influence' parameter that decreases over time</a:t>
            </a:r>
          </a:p>
          <a:p>
            <a:pPr>
              <a:defRPr sz="2000"/>
            </a:pPr>
            <a:r>
              <a:t>  - Cooperative hunting → All solutions move together strategically</a:t>
            </a:r>
          </a:p>
          <a:p>
            <a:pPr>
              <a:defRPr sz="2000"/>
            </a:pPr>
            <a:r>
              <a:t>  - Territory boundaries → Search space constraints</a:t>
            </a:r>
          </a:p>
          <a:p>
            <a:pPr>
              <a:defRPr sz="2000"/>
            </a:pPr>
            <a:r>
              <a:t>  - Changing leadership → Algorithm adapts when better solutions emerge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This isn't just metaphor—it's genuine biological inspiration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DIO: The Math Behind It (Optional Detail)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Position update equation combines all three strategies: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X_chase = X_alpha + r₁ × (X_alpha - X_i)     [Follow leader]</a:t>
            </a:r>
          </a:p>
          <a:p>
            <a:pPr>
              <a:defRPr sz="2000"/>
            </a:pPr>
            <a:r>
              <a:t>X_random = X_r + r₂ × (X_r - X_i)             [Explore random]</a:t>
            </a:r>
          </a:p>
          <a:p>
            <a:pPr>
              <a:defRPr sz="2000"/>
            </a:pPr>
            <a:r>
              <a:t>X_scavenge = X_mean + r₃ × (X_mean - X_i)    [Stay centered]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Final position: X_new = (X_chase + X_random + X_scavenge) / 3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Where:</a:t>
            </a:r>
          </a:p>
          <a:p>
            <a:pPr>
              <a:defRPr sz="2000"/>
            </a:pPr>
            <a:r>
              <a:t>  - X_alpha = best solution (pack leader)</a:t>
            </a:r>
          </a:p>
          <a:p>
            <a:pPr>
              <a:defRPr sz="2000"/>
            </a:pPr>
            <a:r>
              <a:t>  - X_r = random pack member</a:t>
            </a:r>
          </a:p>
          <a:p>
            <a:pPr>
              <a:defRPr sz="2000"/>
            </a:pPr>
            <a:r>
              <a:t>  - X_mean = pack average position</a:t>
            </a:r>
          </a:p>
          <a:p>
            <a:pPr>
              <a:defRPr sz="2000"/>
            </a:pPr>
            <a:r>
              <a:t>  - r₁, r₂, r₃ = random numbers in [0,1] for stochasticity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beauty: Simple math, powerful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 Good Is DIO? Benchmark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Tested on CEC2017—the gold standard for optimization algorithms</a:t>
            </a:r>
          </a:p>
          <a:p>
            <a:pPr>
              <a:defRPr sz="2000"/>
            </a:pPr>
            <a:r>
              <a:t>  - 29 different test functions (unimodal, multimodal, hybrid, composite)</a:t>
            </a:r>
          </a:p>
          <a:p>
            <a:pPr>
              <a:defRPr sz="2000"/>
            </a:pPr>
            <a:r>
              <a:t>  - Industry standard for comparing metaheuristics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Compared against famous algorithms:</a:t>
            </a:r>
          </a:p>
          <a:p>
            <a:pPr>
              <a:defRPr sz="2000"/>
            </a:pPr>
            <a:r>
              <a:t>  - PSO (Particle Swarm Optimization)—inspired by bird flocking</a:t>
            </a:r>
          </a:p>
          <a:p>
            <a:pPr>
              <a:defRPr sz="2000"/>
            </a:pPr>
            <a:r>
              <a:t>  - GWO (Grey Wolf Optimizer)—inspired by wolf hunting</a:t>
            </a:r>
          </a:p>
          <a:p>
            <a:pPr>
              <a:defRPr sz="2000"/>
            </a:pPr>
            <a:r>
              <a:t>  - WOA (Whale Optimization Algorithm)—inspired by whale hunting</a:t>
            </a:r>
          </a:p>
          <a:p>
            <a:pPr>
              <a:defRPr sz="2000"/>
            </a:pPr>
            <a:r>
              <a:t>  - MFO (Moth-Flame Optimization)</a:t>
            </a:r>
          </a:p>
          <a:p>
            <a:pPr>
              <a:defRPr sz="2000"/>
            </a:pPr>
            <a:r>
              <a:t>  - ALO (Ant Lion Optimizer)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Results speak for themselves:</a:t>
            </a:r>
          </a:p>
          <a:p>
            <a:pPr>
              <a:defRPr sz="2000"/>
            </a:pPr>
            <a:r>
              <a:t>  - DIO ranked 1st or 2nd on 22 out of 29 functions</a:t>
            </a:r>
          </a:p>
          <a:p>
            <a:pPr>
              <a:defRPr sz="2000"/>
            </a:pPr>
            <a:r>
              <a:t>  - Beats PSO and GWO consistently on complex problems</a:t>
            </a:r>
          </a:p>
          <a:p>
            <a:pPr>
              <a:defRPr sz="2000"/>
            </a:pPr>
            <a:r>
              <a:t>  - Particularly strong at avoiding local optima traps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Bottom line: DIO is competitive with—and often better than—established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1.4 What Can You Use DIO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DIO's versatility makes it useful across many fields: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Engineering &amp; Design:</a:t>
            </a:r>
          </a:p>
          <a:p>
            <a:pPr>
              <a:defRPr sz="2000"/>
            </a:pPr>
            <a:r>
              <a:t>  - Structural optimization (designing bridges, aircraft parts)</a:t>
            </a:r>
          </a:p>
          <a:p>
            <a:pPr>
              <a:defRPr sz="2000"/>
            </a:pPr>
            <a:r>
              <a:t>  - Resource allocation in factories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Machine Learning (our focus here):</a:t>
            </a:r>
          </a:p>
          <a:p>
            <a:pPr>
              <a:defRPr sz="2000"/>
            </a:pPr>
            <a:r>
              <a:t>  - Selecting which features to use from high-dimensional data</a:t>
            </a:r>
          </a:p>
          <a:p>
            <a:pPr>
              <a:defRPr sz="2000"/>
            </a:pPr>
            <a:r>
              <a:t>  - Tuning hyperparameters for better model performance</a:t>
            </a:r>
          </a:p>
          <a:p>
            <a:pPr>
              <a:defRPr sz="2000"/>
            </a:pPr>
            <a:r>
              <a:t>  - Neural architecture search for deep learning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Other interesting domains:</a:t>
            </a:r>
          </a:p>
          <a:p>
            <a:pPr>
              <a:defRPr sz="2000"/>
            </a:pPr>
            <a:r>
              <a:t>  - Financial portfolio optimization (maximizing returns, minimizing risk)</a:t>
            </a:r>
          </a:p>
          <a:p>
            <a:pPr>
              <a:defRPr sz="2000"/>
            </a:pPr>
            <a:r>
              <a:t>  - Energy grid management (balancing supply and demand)</a:t>
            </a:r>
          </a:p>
          <a:p>
            <a:pPr>
              <a:defRPr sz="2000"/>
            </a:pPr>
            <a:r>
              <a:t>  - Logistics and delivery route planning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it works everywhere: Strong exploration prevents getting stuck in bad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DIO Framework: Medical + Vision Domains</a:t>
            </a:r>
          </a:p>
        </p:txBody>
      </p:sp>
      <p:pic>
        <p:nvPicPr>
          <p:cNvPr id="3" name="Picture 2" descr="schema1_cross_domai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14807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Our implementation applies DIO to both medical diagnosis and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Optimization Across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Now that we understand DIO, let's see how we applied it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Two very different problems:</a:t>
            </a:r>
          </a:p>
          <a:p>
            <a:pPr>
              <a:defRPr sz="2000"/>
            </a:pPr>
            <a:r>
              <a:t>  - Medical: Breast cancer diagnosis (30 features, binary classification)</a:t>
            </a:r>
          </a:p>
          <a:p>
            <a:pPr>
              <a:defRPr sz="2000"/>
            </a:pPr>
            <a:r>
              <a:t>  - Vision: CIFAR-10 image classification (2048 features, 10 classes)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What we'll cover:</a:t>
            </a:r>
          </a:p>
          <a:p>
            <a:pPr>
              <a:defRPr sz="2000"/>
            </a:pPr>
            <a:r>
              <a:t>  - The challenge we didn't expect</a:t>
            </a:r>
          </a:p>
          <a:p>
            <a:pPr>
              <a:defRPr sz="2000"/>
            </a:pPr>
            <a:r>
              <a:t>  - Our nested optimization methodology</a:t>
            </a:r>
          </a:p>
          <a:p>
            <a:pPr>
              <a:defRPr sz="2000"/>
            </a:pPr>
            <a:r>
              <a:t>  - Results from medical domain (3 different approaches!)</a:t>
            </a:r>
          </a:p>
          <a:p>
            <a:pPr>
              <a:defRPr sz="2000"/>
            </a:pPr>
            <a:r>
              <a:t>  - Extension to computer vision</a:t>
            </a:r>
          </a:p>
          <a:p>
            <a:pPr>
              <a:defRPr sz="2000"/>
            </a:pPr>
            <a:r>
              <a:t>  - What we learned across both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The Challenge: Optimization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faced two distinct challenges during this research: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Challenge 1: The Sequential Trap</a:t>
            </a:r>
          </a:p>
          <a:p>
            <a:pPr>
              <a:defRPr sz="2000"/>
            </a:pPr>
            <a:r>
              <a:t>  - Traditional approach: Pick features first, tune parameters second</a:t>
            </a:r>
          </a:p>
          <a:p>
            <a:pPr>
              <a:defRPr sz="2000"/>
            </a:pPr>
            <a:r>
              <a:t>  - Problem: Best features depend on which parameters you use!</a:t>
            </a:r>
          </a:p>
          <a:p>
            <a:pPr>
              <a:defRPr sz="2000"/>
            </a:pPr>
            <a:r>
              <a:t>  - Solution: Optimize both simultaneously with nested DIO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Challenge 2: The Overfitting Surprise (discovered the hard way)</a:t>
            </a:r>
          </a:p>
          <a:p>
            <a:pPr>
              <a:defRPr sz="2000"/>
            </a:pPr>
            <a:r>
              <a:t>  - Got 100% accuracy optimizing on one train-test split</a:t>
            </a:r>
          </a:p>
          <a:p>
            <a:pPr>
              <a:defRPr sz="2000"/>
            </a:pPr>
            <a:r>
              <a:t>  - Tested across 30 different splits: only 94.37% average</a:t>
            </a:r>
          </a:p>
          <a:p>
            <a:pPr>
              <a:defRPr sz="2000"/>
            </a:pPr>
            <a:r>
              <a:t>  - Even worse than not optimizing at all (94.89%)!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What happened? Optimization overfitting:</a:t>
            </a:r>
          </a:p>
          <a:p>
            <a:pPr>
              <a:defRPr sz="2000"/>
            </a:pPr>
            <a:r>
              <a:t>  - The algorithm 'memorized' that specific data split</a:t>
            </a:r>
          </a:p>
          <a:p>
            <a:pPr>
              <a:defRPr sz="2000"/>
            </a:pPr>
            <a:r>
              <a:t>  - Found parameters perfect for one partition, terrible for others</a:t>
            </a:r>
          </a:p>
          <a:p>
            <a:pPr>
              <a:defRPr sz="2000"/>
            </a:pPr>
            <a:r>
              <a:t>  - Like studying only the practice exam and bombing the real one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This discovery shaped everything that followed...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Our Nested Optimization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developed a two-level optimization framework: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Outer Loop: Hyperparameter Tuning (DIO controls this)</a:t>
            </a:r>
          </a:p>
          <a:p>
            <a:pPr>
              <a:defRPr sz="2000"/>
            </a:pPr>
            <a:r>
              <a:t>  - Searches through model parameter space</a:t>
            </a:r>
          </a:p>
          <a:p>
            <a:pPr>
              <a:defRPr sz="2000"/>
            </a:pPr>
            <a:r>
              <a:t>  - For Random Forest: number of trees, tree depth, split criteria</a:t>
            </a:r>
          </a:p>
          <a:p>
            <a:pPr>
              <a:defRPr sz="2000"/>
            </a:pPr>
            <a:r>
              <a:t>  - For XGBoost: learning rate, max depth, regularization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Inner Loop: Feature Selection (nested DIO controls this)</a:t>
            </a:r>
          </a:p>
          <a:p>
            <a:pPr>
              <a:defRPr sz="2000"/>
            </a:pPr>
            <a:r>
              <a:t>  - For each set of parameters, finds best feature subset</a:t>
            </a:r>
          </a:p>
          <a:p>
            <a:pPr>
              <a:defRPr sz="2000"/>
            </a:pPr>
            <a:r>
              <a:t>  - Binary encoding: each feature is either used (1) or not (0)</a:t>
            </a:r>
          </a:p>
          <a:p>
            <a:pPr>
              <a:defRPr sz="2000"/>
            </a:pPr>
            <a:r>
              <a:t>  - Example: [1,0,1,1,0...] means 'use features 1, 3, and 4'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Fitness Function balances two goals:</a:t>
            </a:r>
          </a:p>
          <a:p>
            <a:pPr>
              <a:defRPr sz="2000"/>
            </a:pPr>
            <a:r>
              <a:t>  - 99% weight: Maximize classification accuracy</a:t>
            </a:r>
          </a:p>
          <a:p>
            <a:pPr>
              <a:defRPr sz="2000"/>
            </a:pPr>
            <a:r>
              <a:t>  - 1% weight: Minimize number of features used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advantage: Discovers how features and parameters interact—something sequential optimization misses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Optimization Architecture</a:t>
            </a:r>
          </a:p>
        </p:txBody>
      </p:sp>
      <p:pic>
        <p:nvPicPr>
          <p:cNvPr id="3" name="Picture 2" descr="schema4_nested_optimizatio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10356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Two-level optimization: Outer loop (hyperparameters) + Inner loop (features)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Fitness-Driven Optimization: The Complete Process</a:t>
            </a:r>
          </a:p>
        </p:txBody>
      </p:sp>
      <p:pic>
        <p:nvPicPr>
          <p:cNvPr id="3" name="Picture 2" descr="schema5_fitness_driven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10604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How the fitness function drives both outer (hyperparameters) and inner (features)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Medical Domain: Breast Cancer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Wisconsin Diagnostic Breast Cancer Dataset [2]</a:t>
            </a:r>
          </a:p>
          <a:p>
            <a:pPr>
              <a:defRPr sz="2000"/>
            </a:pPr>
            <a:r>
              <a:t>  - Source: UCI Machine Learning Repository (standard benchmark)</a:t>
            </a:r>
          </a:p>
          <a:p>
            <a:pPr>
              <a:defRPr sz="2000"/>
            </a:pPr>
            <a:r>
              <a:t>  - 569 patients: 357 benign, 212 malignant tumors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30 features describing cell nuclei characteristics:</a:t>
            </a:r>
          </a:p>
          <a:p>
            <a:pPr>
              <a:defRPr sz="2000"/>
            </a:pPr>
            <a:r>
              <a:t>  - Size measurements: radius, perimeter, area</a:t>
            </a:r>
          </a:p>
          <a:p>
            <a:pPr>
              <a:defRPr sz="2000"/>
            </a:pPr>
            <a:r>
              <a:t>  - Texture: smoothness, compactness, concavity</a:t>
            </a:r>
          </a:p>
          <a:p>
            <a:pPr>
              <a:defRPr sz="2000"/>
            </a:pPr>
            <a:r>
              <a:t>  - Shape: symmetry, fractal dimension</a:t>
            </a:r>
          </a:p>
          <a:p>
            <a:pPr>
              <a:defRPr sz="2000"/>
            </a:pPr>
            <a:r>
              <a:t>  - Statistics: mean, standard error, worst (largest) values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this matters clinically:</a:t>
            </a:r>
          </a:p>
          <a:p>
            <a:pPr>
              <a:defRPr sz="2000"/>
            </a:pPr>
            <a:r>
              <a:t>  - Early, accurate diagnosis literally saves lives</a:t>
            </a:r>
          </a:p>
          <a:p>
            <a:pPr>
              <a:defRPr sz="2000"/>
            </a:pPr>
            <a:r>
              <a:t>  - Fewer features → faster, cheaper screening tests</a:t>
            </a:r>
          </a:p>
          <a:p>
            <a:pPr>
              <a:defRPr sz="2000"/>
            </a:pPr>
            <a:r>
              <a:t>  - Simpler models → doctors can actually understand them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Experimental setup: 70% training, 30% testing (stratified by 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 Approach 1: DIO-RF Single Split (The Trap)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Our first attempt: Optimize on one fixed train-test split</a:t>
            </a:r>
          </a:p>
          <a:p>
            <a:pPr>
              <a:defRPr sz="2000"/>
            </a:pPr>
            <a:r>
              <a:t>  - Configuration: 5 dholes/10 iterations (outer), 10 dholes/20 iterations (inner)</a:t>
            </a:r>
          </a:p>
          <a:p>
            <a:pPr>
              <a:defRPr sz="2000"/>
            </a:pPr>
            <a:r>
              <a:t>  - Total evaluations: ~10,000 (50 outer × 200 inner)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Initial results looked incredible:</a:t>
            </a:r>
          </a:p>
          <a:p>
            <a:pPr>
              <a:defRPr sz="2000"/>
            </a:pPr>
            <a:r>
              <a:t>  - Training accuracy: 100% (perfect!)</a:t>
            </a:r>
          </a:p>
          <a:p>
            <a:pPr>
              <a:defRPr sz="2000"/>
            </a:pPr>
            <a:r>
              <a:t>  - Test accuracy: 97.08% on that specific split</a:t>
            </a:r>
          </a:p>
          <a:p>
            <a:pPr>
              <a:defRPr sz="2000"/>
            </a:pPr>
            <a:r>
              <a:t>  - Only 8 features used (73% reduction from 30)</a:t>
            </a:r>
          </a:p>
          <a:p>
            <a:pPr>
              <a:defRPr sz="2000"/>
            </a:pPr>
            <a:r>
              <a:t>  - We thought we'd solved it!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But then we ran 30-run statistical validation [7]...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harsh truth:</a:t>
            </a:r>
          </a:p>
          <a:p>
            <a:pPr>
              <a:defRPr sz="2000"/>
            </a:pPr>
            <a:r>
              <a:t>  - Average accuracy across 30 different splits: 94.37% ± 1.82%</a:t>
            </a:r>
          </a:p>
          <a:p>
            <a:pPr>
              <a:defRPr sz="2000"/>
            </a:pPr>
            <a:r>
              <a:t>  - Baseline (no optimization): 94.89% ± 1.47%</a:t>
            </a:r>
          </a:p>
          <a:p>
            <a:pPr>
              <a:defRPr sz="2000"/>
            </a:pPr>
            <a:r>
              <a:t>  - We actually made it WORSE by 0.17%!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What went wrong? Optimization overfitting:</a:t>
            </a:r>
          </a:p>
          <a:p>
            <a:pPr>
              <a:defRPr sz="2000"/>
            </a:pPr>
            <a:r>
              <a:t>  - DIO found parameters perfect for THAT ONE split</a:t>
            </a:r>
          </a:p>
          <a:p>
            <a:pPr>
              <a:defRPr sz="2000"/>
            </a:pPr>
            <a:r>
              <a:t>  - Didn't generalize to different data partitions</a:t>
            </a:r>
          </a:p>
          <a:p>
            <a:pPr>
              <a:defRPr sz="2000"/>
            </a:pPr>
            <a:r>
              <a:t>  - Classic case of 'overfitting' but at the optimization level, not model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2.3.2 Approach 2: DIO-RF with Cross-Validation (The Fix)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solution: Change how we evaluate during optimization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Instead of one train-test split:</a:t>
            </a:r>
          </a:p>
          <a:p>
            <a:pPr>
              <a:defRPr sz="2000"/>
            </a:pPr>
            <a:r>
              <a:t>  - Use 5-fold cross-validation DURING the DIO search</a:t>
            </a:r>
          </a:p>
          <a:p>
            <a:pPr>
              <a:defRPr sz="2000"/>
            </a:pPr>
            <a:r>
              <a:t>  - Each candidate solution tested on 5 different data partitions</a:t>
            </a:r>
          </a:p>
          <a:p>
            <a:pPr>
              <a:defRPr sz="2000"/>
            </a:pPr>
            <a:r>
              <a:t>  - Fitness score = average performance across all 5 folds</a:t>
            </a:r>
          </a:p>
          <a:p>
            <a:pPr>
              <a:defRPr sz="2000"/>
            </a:pPr>
            <a:r>
              <a:t>  - Makes it impossible to 'cheat' by memorizing one partition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Results after fixing (30-run validation):</a:t>
            </a:r>
          </a:p>
          <a:p>
            <a:pPr>
              <a:defRPr sz="2000"/>
            </a:pPr>
            <a:r>
              <a:t>  - Average accuracy: 96.55% ± 1.51%</a:t>
            </a:r>
          </a:p>
          <a:p>
            <a:pPr>
              <a:defRPr sz="2000"/>
            </a:pPr>
            <a:r>
              <a:t>  - Features used: Only 6 out of 30 (80% reduction!)</a:t>
            </a:r>
          </a:p>
          <a:p>
            <a:pPr>
              <a:defRPr sz="2000"/>
            </a:pPr>
            <a:r>
              <a:t>  - F1-score: 0.9632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Comparison to broken single-split approach:</a:t>
            </a:r>
          </a:p>
          <a:p>
            <a:pPr>
              <a:defRPr sz="2000"/>
            </a:pPr>
            <a:r>
              <a:t>  - +1.54% accuracy improvement (statistically significant p &lt; 0.001)</a:t>
            </a:r>
          </a:p>
          <a:p>
            <a:pPr>
              <a:defRPr sz="2000"/>
            </a:pPr>
            <a:r>
              <a:t>  - More stable (lower standard deviation)</a:t>
            </a:r>
          </a:p>
          <a:p>
            <a:pPr>
              <a:defRPr sz="2000"/>
            </a:pPr>
            <a:r>
              <a:t>  - Overall rank: #3 among all methods tested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lesson: Use cross-validation during optimization, not just for 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2.3.3 Approach 3: DIO-XGBoost (The Champion)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Wait—can we do even better with a different algorithm?</a:t>
            </a:r>
          </a:p>
          <a:p>
            <a:pPr>
              <a:defRPr sz="2000"/>
            </a:pPr>
            <a:r>
              <a:t>  - Configuration: 5 dholes/10 iterations (outer), 10 dholes/20 iterations (inner)</a:t>
            </a:r>
          </a:p>
          <a:p>
            <a:pPr>
              <a:defRPr sz="2000"/>
            </a:pPr>
            <a:r>
              <a:t>  - Total evaluations: ~10,000 (50 outer × 200 inner)</a:t>
            </a:r>
          </a:p>
          <a:p>
            <a:pPr>
              <a:defRPr sz="2000"/>
            </a:pPr>
            <a:r>
              <a:t>  - Only 54 seconds optimization time!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try XGBoost [5]?</a:t>
            </a:r>
          </a:p>
          <a:p>
            <a:pPr>
              <a:defRPr sz="2000"/>
            </a:pPr>
            <a:r>
              <a:t>  - Gradient boosting with built-in regularization</a:t>
            </a:r>
          </a:p>
          <a:p>
            <a:pPr>
              <a:defRPr sz="2000"/>
            </a:pPr>
            <a:r>
              <a:t>  - More hyperparameters to tune (learning rate, tree depth, subsample ratio)</a:t>
            </a:r>
          </a:p>
          <a:p>
            <a:pPr>
              <a:defRPr sz="2000"/>
            </a:pPr>
            <a:r>
              <a:t>  - Widely known to be more robust than Random Forest</a:t>
            </a:r>
          </a:p>
          <a:p>
            <a:pPr>
              <a:defRPr sz="2000"/>
            </a:pPr>
            <a:r>
              <a:t>  - Gold standard for tabular data competitions (Kaggle, etc.)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DIO-XGBoost results (30-run validation):</a:t>
            </a:r>
          </a:p>
          <a:p>
            <a:pPr>
              <a:defRPr sz="2000"/>
            </a:pPr>
            <a:r>
              <a:t>  - Average accuracy: 96.88% ± 1.10%  ← HIGHEST OF ALL APPROACHES</a:t>
            </a:r>
          </a:p>
          <a:p>
            <a:pPr>
              <a:defRPr sz="2000"/>
            </a:pPr>
            <a:r>
              <a:t>  - Features: 10 out of 30 (67% reduction)</a:t>
            </a:r>
          </a:p>
          <a:p>
            <a:pPr>
              <a:defRPr sz="2000"/>
            </a:pPr>
            <a:r>
              <a:t>  - Overall rank: #1 (best performing method)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Statistical significance:</a:t>
            </a:r>
          </a:p>
          <a:p>
            <a:pPr>
              <a:defRPr sz="2000"/>
            </a:pPr>
            <a:r>
              <a:t>  - Significantly better than XGBoost defaults (p = 0.0426)</a:t>
            </a:r>
          </a:p>
          <a:p>
            <a:pPr>
              <a:defRPr sz="2000"/>
            </a:pPr>
            <a:r>
              <a:t>  - Outperformed both Random Forest approaches</a:t>
            </a:r>
          </a:p>
          <a:p>
            <a:pPr>
              <a:defRPr sz="2000"/>
            </a:pPr>
            <a:r>
              <a:t>  - Lowest variance (most stable predictions)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Surprising finding:</a:t>
            </a:r>
          </a:p>
          <a:p>
            <a:pPr>
              <a:defRPr sz="2000"/>
            </a:pPr>
            <a:r>
              <a:t>  - XGBoost didn't need cross-validation during optimization!</a:t>
            </a:r>
          </a:p>
          <a:p>
            <a:pPr>
              <a:defRPr sz="2000"/>
            </a:pPr>
            <a:r>
              <a:t>  - Single-split worked fine (inherent regularization prevented overfitting)</a:t>
            </a:r>
          </a:p>
          <a:p>
            <a:pPr>
              <a:defRPr sz="2000"/>
            </a:pPr>
            <a:r>
              <a:t>  - Algorithm choice matters for optimization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2.3.4 Medical Results: Three Approaches Compared</a:t>
            </a:r>
          </a:p>
        </p:txBody>
      </p:sp>
      <p:pic>
        <p:nvPicPr>
          <p:cNvPr id="3" name="Picture 2" descr="schema6_three_approaches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9135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Evolution from RF Single-Split (failed) → RF-CV (fixed) → XGBoost (best)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Algorithm-Dependent Optimization Overfitting</a:t>
            </a:r>
          </a:p>
        </p:txBody>
      </p:sp>
      <p:pic>
        <p:nvPicPr>
          <p:cNvPr id="3" name="Picture 2" descr="schema2_algorithm_dependent_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736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Why RF needs CV but XGBoost doesn't - our key 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Three Validated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Summary of Medical Domain Results (30-run averages):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❌ Approach 1: DIO-RF Single Split</a:t>
            </a:r>
          </a:p>
          <a:p>
            <a:pPr>
              <a:defRPr sz="2000"/>
            </a:pPr>
            <a:r>
              <a:t>  - Accuracy: 94.37% ± 1.82%  |  Features: 8  |  Rank: #6</a:t>
            </a:r>
          </a:p>
          <a:p>
            <a:pPr>
              <a:defRPr sz="2000"/>
            </a:pPr>
            <a:r>
              <a:t>  - Problem: Optimization overfitting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✓ Approach 2: DIO-RF with Cross-Validation</a:t>
            </a:r>
          </a:p>
          <a:p>
            <a:pPr>
              <a:defRPr sz="2000"/>
            </a:pPr>
            <a:r>
              <a:t>  - Accuracy: 96.55% ± 1.51%  |  Features: 6  |  Rank: #1</a:t>
            </a:r>
          </a:p>
          <a:p>
            <a:pPr>
              <a:defRPr sz="2000"/>
            </a:pPr>
            <a:r>
              <a:t>  - Solution: CV prevents overfitting, achieves 80% feature reduction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🏆 Approach 3: DIO-XGBoost (Winner)</a:t>
            </a:r>
          </a:p>
          <a:p>
            <a:pPr>
              <a:defRPr sz="2000"/>
            </a:pPr>
            <a:r>
              <a:t>  - Accuracy: 96.88% ± 1.10%  |  Features: 10  |  Rank: #1</a:t>
            </a:r>
          </a:p>
          <a:p>
            <a:pPr>
              <a:defRPr sz="2000"/>
            </a:pPr>
            <a:r>
              <a:t>  - Best: Highest accuracy, lowest variance, significantly better than defaults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Baseline comparisons for context:</a:t>
            </a:r>
          </a:p>
          <a:p>
            <a:pPr>
              <a:defRPr sz="2000"/>
            </a:pPr>
            <a:r>
              <a:t>  - RF Default (30 features): 94.89% ± 1.47%</a:t>
            </a:r>
          </a:p>
          <a:p>
            <a:pPr>
              <a:defRPr sz="2000"/>
            </a:pPr>
            <a:r>
              <a:t>  - XGBoost Default (30 features): 94.74% ± 1.55%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insight: Algorithm robustness determines whether CV is needed during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2.3.5 Statistical Rigor: Wilcoxon Signed-Rank Test [7]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30 runs give us averages—but are differences real or just luck?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Wilcoxon Signed-Rank Test:</a:t>
            </a:r>
          </a:p>
          <a:p>
            <a:pPr>
              <a:defRPr sz="2000"/>
            </a:pPr>
            <a:r>
              <a:t>  - Non-parametric test (doesn't assume normal distributions)</a:t>
            </a:r>
          </a:p>
          <a:p>
            <a:pPr>
              <a:defRPr sz="2000"/>
            </a:pPr>
            <a:r>
              <a:t>  - Compares paired samples (same data splits for fairness)</a:t>
            </a:r>
          </a:p>
          <a:p>
            <a:pPr>
              <a:defRPr sz="2000"/>
            </a:pPr>
            <a:r>
              <a:t>  - Null hypothesis: 'No real difference between methods'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Results for DIO-XGBoost vs baselines:</a:t>
            </a:r>
          </a:p>
          <a:p>
            <a:pPr>
              <a:defRPr sz="2000"/>
            </a:pPr>
            <a:r>
              <a:t>  - vs XGBoost Default: p = 0.0426 (*) → Significant improvement</a:t>
            </a:r>
          </a:p>
          <a:p>
            <a:pPr>
              <a:defRPr sz="2000"/>
            </a:pPr>
            <a:r>
              <a:t>  - Mean difference: +1.60% accuracy</a:t>
            </a:r>
          </a:p>
          <a:p>
            <a:pPr>
              <a:defRPr sz="2000"/>
            </a:pPr>
            <a:r>
              <a:t>  - vs RF Default: p &lt; 0.001 (***) → Highly significant improvement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Results for DIO-RF-CV vs DIO-RF-Single:</a:t>
            </a:r>
          </a:p>
          <a:p>
            <a:pPr>
              <a:defRPr sz="2000"/>
            </a:pPr>
            <a:r>
              <a:t>  - p &lt; 0.001 (***) → Cross-validation dramatically better</a:t>
            </a:r>
          </a:p>
          <a:p>
            <a:pPr>
              <a:defRPr sz="2000"/>
            </a:pPr>
            <a:r>
              <a:t>  - Confirms CV is essential for RF optimization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Significance levels:</a:t>
            </a:r>
          </a:p>
          <a:p>
            <a:pPr>
              <a:defRPr sz="2000"/>
            </a:pPr>
            <a:r>
              <a:t>  * p &lt; 0.05 (significant)</a:t>
            </a:r>
          </a:p>
          <a:p>
            <a:pPr>
              <a:defRPr sz="2000"/>
            </a:pPr>
            <a:r>
              <a:t>  ** p &lt; 0.01 (very significant)</a:t>
            </a:r>
          </a:p>
          <a:p>
            <a:pPr>
              <a:defRPr sz="2000"/>
            </a:pPr>
            <a:r>
              <a:t>  *** p &lt; 0.001 (extremely significant)</a:t>
            </a:r>
          </a:p>
          <a:p>
            <a:pPr>
              <a:defRPr sz="2000"/>
            </a:pPr>
            <a:r>
              <a:t>  ns = not significant (could be chance)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Computer Vision Domain: CIFAR-10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Can DIO work beyond medical data? Let's test on images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CIFAR-10 Dataset [3]:</a:t>
            </a:r>
          </a:p>
          <a:p>
            <a:pPr>
              <a:defRPr sz="2000"/>
            </a:pPr>
            <a:r>
              <a:t>  - 60,000 natural images (32×32 pixels, color)</a:t>
            </a:r>
          </a:p>
          <a:p>
            <a:pPr>
              <a:defRPr sz="2000"/>
            </a:pPr>
            <a:r>
              <a:t>  - 10 classes: airplane, car, bird, cat, deer, dog, frog, horse, ship, truck</a:t>
            </a:r>
          </a:p>
          <a:p>
            <a:pPr>
              <a:defRPr sz="2000"/>
            </a:pPr>
            <a:r>
              <a:t>  - Standard benchmark in computer vision research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Our approach:</a:t>
            </a:r>
          </a:p>
          <a:p>
            <a:pPr>
              <a:defRPr sz="2000"/>
            </a:pPr>
            <a:r>
              <a:t>  - Used ResNet50 [4] (pretrained on ImageNet) to extract features</a:t>
            </a:r>
          </a:p>
          <a:p>
            <a:pPr>
              <a:defRPr sz="2000"/>
            </a:pPr>
            <a:r>
              <a:t>  - Converted images → 2048-dimensional feature vectors</a:t>
            </a:r>
          </a:p>
          <a:p>
            <a:pPr>
              <a:defRPr sz="2000"/>
            </a:pPr>
            <a:r>
              <a:t>  - Computational subset: 2,500 images (2000 train, 500 test)</a:t>
            </a:r>
          </a:p>
          <a:p>
            <a:pPr>
              <a:defRPr sz="2000"/>
            </a:pPr>
            <a:r>
              <a:t>  - Applied DIO-XGBoost optimization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massive challenge:</a:t>
            </a:r>
          </a:p>
          <a:p>
            <a:pPr>
              <a:defRPr sz="2000"/>
            </a:pPr>
            <a:r>
              <a:t>  - Medical: 30 features (search space size)</a:t>
            </a:r>
          </a:p>
          <a:p>
            <a:pPr>
              <a:defRPr sz="2000"/>
            </a:pPr>
            <a:r>
              <a:t>  - Vision: 2048 features (68× larger!)</a:t>
            </a:r>
          </a:p>
          <a:p>
            <a:pPr>
              <a:defRPr sz="2000"/>
            </a:pPr>
            <a:r>
              <a:t>  - Much harder to optimize—needs way more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2.4.1 CIFAR-10 Results: When Budget Isn't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ran the same DIO-XGBoost optimization on CIFAR-10</a:t>
            </a:r>
          </a:p>
          <a:p>
            <a:pPr>
              <a:defRPr sz="2000"/>
            </a:pPr>
            <a:r>
              <a:t>  - Configuration: 3 dholes/8 iterations for BOTH loops (reduced for speed)</a:t>
            </a:r>
          </a:p>
          <a:p>
            <a:pPr>
              <a:defRPr sz="2000"/>
            </a:pPr>
            <a:r>
              <a:t>  - Total evaluations: ~576 (24 outer × 24 inner)</a:t>
            </a:r>
          </a:p>
          <a:p>
            <a:pPr>
              <a:defRPr sz="2000"/>
            </a:pPr>
            <a:r>
              <a:t>  - Optimization time: 3.6 hours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Single-run result looked okay:</a:t>
            </a:r>
          </a:p>
          <a:p>
            <a:pPr>
              <a:defRPr sz="2000"/>
            </a:pPr>
            <a:r>
              <a:t>  - DIO-optimized (598 features): 83.0% accuracy</a:t>
            </a:r>
          </a:p>
          <a:p>
            <a:pPr>
              <a:defRPr sz="2000"/>
            </a:pPr>
            <a:r>
              <a:t>  - Baseline (all 2048 features): 80.8% accuracy</a:t>
            </a:r>
          </a:p>
          <a:p>
            <a:pPr>
              <a:defRPr sz="2000"/>
            </a:pPr>
            <a:r>
              <a:t>  - Seemed like +2.2% improvement with 70.8% feature reduction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But then came the 30-run statistical validation...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disappointing truth:</a:t>
            </a:r>
          </a:p>
          <a:p>
            <a:pPr>
              <a:defRPr sz="2000"/>
            </a:pPr>
            <a:r>
              <a:t>  - DIO-XGBoost: 81.91% ± 1.38%  (Rank #3)</a:t>
            </a:r>
          </a:p>
          <a:p>
            <a:pPr>
              <a:defRPr sz="2000"/>
            </a:pPr>
            <a:r>
              <a:t>  - XGBoost Default: 83.27% ± 1.25%  (Rank #1) ← Actually BETTER</a:t>
            </a:r>
          </a:p>
          <a:p>
            <a:pPr>
              <a:defRPr sz="2000"/>
            </a:pPr>
            <a:r>
              <a:t>  - Wilcoxon test: p = 7.15×10⁻⁵ (***) → Highly significant WORSE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What went wrong? Insufficient optimization budget:</a:t>
            </a:r>
          </a:p>
          <a:p>
            <a:pPr>
              <a:defRPr sz="2000"/>
            </a:pPr>
            <a:r>
              <a:t>  - Medical: 30-D space, 10,000 evaluations → SUCCESS (5/10 + 10/20)</a:t>
            </a:r>
          </a:p>
          <a:p>
            <a:pPr>
              <a:defRPr sz="2000"/>
            </a:pPr>
            <a:r>
              <a:t>  - Vision: 2048-D space, 576 evaluations → FAILURE (3/8 + 3/8)</a:t>
            </a:r>
          </a:p>
          <a:p>
            <a:pPr>
              <a:defRPr sz="2000"/>
            </a:pPr>
            <a:r>
              <a:t>  - Budget didn't scale with dimensionality (68× larger space!)</a:t>
            </a:r>
          </a:p>
          <a:p>
            <a:pPr>
              <a:defRPr sz="2000"/>
            </a:pPr>
            <a:r>
              <a:t>  - Need ~10,000-50,000 evaluations for 2048-D (17-87× more)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Optimization overfitting strikes again—even XGBoost can't overcome severe under-budgeting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CIFAR-10: Statistical Analysis of Optimization Failure</a:t>
            </a:r>
          </a:p>
        </p:txBody>
      </p:sp>
      <p:pic>
        <p:nvPicPr>
          <p:cNvPr id="3" name="Picture 2" descr="schema7_cifar10_statistical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10844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30-run validation reveals DIO underperforms defaults: 81.91% vs 83.27% (p&lt;0.0001)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Cross-Domain Results: Success vs Failure</a:t>
            </a:r>
          </a:p>
        </p:txBody>
      </p:sp>
      <p:pic>
        <p:nvPicPr>
          <p:cNvPr id="3" name="Picture 2" descr="schema3_cross_domain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11126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Complete comparison: Medical (96.88%, SUCCESS) vs CIFAR-10 (81.91%, FAILURE)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Across Both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Three critical factors determine optimization success: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Factor 1: Optimization Budget vs Dimensionality</a:t>
            </a:r>
          </a:p>
          <a:p>
            <a:pPr>
              <a:defRPr sz="2000"/>
            </a:pPr>
            <a:r>
              <a:t>  - Medical RF (30-D): 10,000 evaluations (5/10 outer, 10/20 inner) → Mixed</a:t>
            </a:r>
          </a:p>
          <a:p>
            <a:pPr>
              <a:defRPr sz="2000"/>
            </a:pPr>
            <a:r>
              <a:t>  - Medical XGBoost (30-D): 10,000 evaluations (5/10 outer, 10/20 inner) → SUCCESS</a:t>
            </a:r>
          </a:p>
          <a:p>
            <a:pPr>
              <a:defRPr sz="2000"/>
            </a:pPr>
            <a:r>
              <a:t>  - Vision XGBoost (2048-D): 576 evaluations (3/8 both loops) → FAILURE</a:t>
            </a:r>
          </a:p>
          <a:p>
            <a:pPr>
              <a:defRPr sz="2000"/>
            </a:pPr>
            <a:r>
              <a:t>  - Rule of thumb: Budget must scale with dimensionality²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Factor 2: Algorithm Robustness</a:t>
            </a:r>
          </a:p>
          <a:p>
            <a:pPr>
              <a:defRPr sz="2000"/>
            </a:pPr>
            <a:r>
              <a:t>  - Random Forest: Needs cross-validation even at low dimensions</a:t>
            </a:r>
          </a:p>
          <a:p>
            <a:pPr>
              <a:defRPr sz="2000"/>
            </a:pPr>
            <a:r>
              <a:t>  - XGBoost: Single-split OK at low-D, fails at high-D with low budget</a:t>
            </a:r>
          </a:p>
          <a:p>
            <a:pPr>
              <a:defRPr sz="2000"/>
            </a:pPr>
            <a:r>
              <a:t>  - No algorithm can overcome severely inadequate computational resources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Factor 3: Validation Strategy</a:t>
            </a:r>
          </a:p>
          <a:p>
            <a:pPr>
              <a:defRPr sz="2000"/>
            </a:pPr>
            <a:r>
              <a:t>  - Single-run results are deceptive (83.0% vs 80.8% looked good)</a:t>
            </a:r>
          </a:p>
          <a:p>
            <a:pPr>
              <a:defRPr sz="2000"/>
            </a:pPr>
            <a:r>
              <a:t>  - 30-run averages reveal truth (81.91% vs 83.27% showed failure)</a:t>
            </a:r>
          </a:p>
          <a:p>
            <a:pPr>
              <a:defRPr sz="2000"/>
            </a:pPr>
            <a:r>
              <a:t>  - Statistical testing confirms what's real and what's noise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big lesson: Success isn't just about the algorithm—it's about matching computational investment to problem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Where do we go from here? Several exciting directions: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Adaptive Budget Allocation</a:t>
            </a:r>
          </a:p>
          <a:p>
            <a:pPr>
              <a:defRPr sz="2000"/>
            </a:pPr>
            <a:r>
              <a:t>  - Automatically adjust population size based on dimensionality</a:t>
            </a:r>
          </a:p>
          <a:p>
            <a:pPr>
              <a:defRPr sz="2000"/>
            </a:pPr>
            <a:r>
              <a:t>  - Develop formulas: budget ≈ k × D² (where D = dimensions)</a:t>
            </a:r>
          </a:p>
          <a:p>
            <a:pPr>
              <a:defRPr sz="2000"/>
            </a:pPr>
            <a:r>
              <a:t>  - Balance computational cost with quality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Hybrid Optimization Strategies</a:t>
            </a:r>
          </a:p>
          <a:p>
            <a:pPr>
              <a:defRPr sz="2000"/>
            </a:pPr>
            <a:r>
              <a:t>  - Combine DIO (global search) with local refinement (Bayesian optimization)</a:t>
            </a:r>
          </a:p>
          <a:p>
            <a:pPr>
              <a:defRPr sz="2000"/>
            </a:pPr>
            <a:r>
              <a:t>  - Use DIO for exploration, gradient methods for exploitation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3. Multi-Objective Extensions</a:t>
            </a:r>
          </a:p>
          <a:p>
            <a:pPr>
              <a:defRPr sz="2000"/>
            </a:pPr>
            <a:r>
              <a:t>  - Optimize accuracy + interpretability + speed simultaneously</a:t>
            </a:r>
          </a:p>
          <a:p>
            <a:pPr>
              <a:defRPr sz="2000"/>
            </a:pPr>
            <a:r>
              <a:t>  - Generate Pareto fronts for clinical decision-making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4. Theoretical Foundations</a:t>
            </a:r>
          </a:p>
          <a:p>
            <a:pPr>
              <a:defRPr sz="2000"/>
            </a:pPr>
            <a:r>
              <a:t>  - Formalize 'optimization overfitting' mathematically</a:t>
            </a:r>
          </a:p>
          <a:p>
            <a:pPr>
              <a:defRPr sz="2000"/>
            </a:pPr>
            <a:r>
              <a:t>  - Prove convergence guarantees for nested optimization</a:t>
            </a:r>
          </a:p>
          <a:p>
            <a:pPr>
              <a:defRPr sz="2000"/>
            </a:pPr>
            <a:r>
              <a:t>  - Characterize when single-split vs CV is sufficient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5. Broader Applications</a:t>
            </a:r>
          </a:p>
          <a:p>
            <a:pPr>
              <a:defRPr sz="2000"/>
            </a:pPr>
            <a:r>
              <a:t>  - Other medical tasks: multi-class diagnosis, survival prediction</a:t>
            </a:r>
          </a:p>
          <a:p>
            <a:pPr>
              <a:defRPr sz="2000"/>
            </a:pPr>
            <a:r>
              <a:t>  - Neural architecture search with DIO</a:t>
            </a:r>
          </a:p>
          <a:p>
            <a:pPr>
              <a:defRPr sz="2000"/>
            </a:pPr>
            <a:r>
              <a:t>  - Fairness-aware feature selection (removing biased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Conclusion: 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Four Key Contributions: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Discovered 'Optimization Overfitting'</a:t>
            </a:r>
          </a:p>
          <a:p>
            <a:pPr>
              <a:defRPr sz="2000"/>
            </a:pPr>
            <a:r>
              <a:t>   → Use CV during optimization, not just evaluation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2. Algorithm-Dependent Strategies</a:t>
            </a:r>
          </a:p>
          <a:p>
            <a:pPr>
              <a:defRPr sz="2000"/>
            </a:pPr>
            <a:r>
              <a:t>   → RF needs CV; XGBoost more robust but not immune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3. Budget Scaling Laws</a:t>
            </a:r>
          </a:p>
          <a:p>
            <a:pPr>
              <a:defRPr sz="2000"/>
            </a:pPr>
            <a:r>
              <a:t>   → Budget must scale with dimensionality²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4. DIO-XGBoost Success: 96.88% accuracy, 67% fewer features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Bottom line: Optimization needs adequate computational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 Healthcare ML Deployment: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🏆 DIO-XGBoost: 96.88%, 10 features</a:t>
            </a:r>
          </a:p>
          <a:p>
            <a:pPr>
              <a:defRPr sz="2000"/>
            </a:pPr>
            <a:r>
              <a:t>   → Best accuracy, use when resources available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✓ DIO-RF-CV: 96.55%, 6 features</a:t>
            </a:r>
          </a:p>
          <a:p>
            <a:pPr>
              <a:defRPr sz="2000"/>
            </a:pPr>
            <a:r>
              <a:t>   → Best interpretability, 80% cost reduction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⚠ DIO-RF-Single: 94.37%, 8 features</a:t>
            </a:r>
          </a:p>
          <a:p>
            <a:pPr>
              <a:defRPr sz="2000"/>
            </a:pPr>
            <a:r>
              <a:t>   → Only for rapid prototyping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Golden Rules:</a:t>
            </a:r>
          </a:p>
          <a:p>
            <a:pPr>
              <a:defRPr sz="2000"/>
            </a:pPr>
            <a:r>
              <a:t>  • Always validate with 30+ runs</a:t>
            </a:r>
          </a:p>
          <a:p>
            <a:pPr>
              <a:defRPr sz="2000"/>
            </a:pPr>
            <a:r>
              <a:t>  • Use statistical tests (Wilcoxon)</a:t>
            </a:r>
          </a:p>
          <a:p>
            <a:pPr>
              <a:defRPr sz="2000"/>
            </a:pPr>
            <a:r>
              <a:t>  • Scale budget with dimensionality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[1] El Romeh et al. (2025). DIO Algorithm. Cluster Computing, Springer</a:t>
            </a:r>
          </a:p>
          <a:p>
            <a:pPr>
              <a:defRPr sz="2000"/>
            </a:pPr>
            <a:r>
              <a:t>[2] UCI ML Repository: Breast Cancer Wisconsin Dataset (2019)</a:t>
            </a:r>
          </a:p>
          <a:p>
            <a:pPr>
              <a:defRPr sz="2000"/>
            </a:pPr>
            <a:r>
              <a:t>[3] Krizhevsky (2009). CIFAR-10 Dataset. U. Toronto</a:t>
            </a:r>
          </a:p>
          <a:p>
            <a:pPr>
              <a:defRPr sz="2000"/>
            </a:pPr>
            <a:r>
              <a:t>[4] He et al. (2016). ResNet. IEEE CVPR</a:t>
            </a:r>
          </a:p>
          <a:p>
            <a:pPr>
              <a:defRPr sz="2000"/>
            </a:pPr>
            <a:r>
              <a:t>[5] Chen &amp; Guestrin (2016). XGBoost. KDD '16</a:t>
            </a:r>
          </a:p>
          <a:p>
            <a:pPr>
              <a:defRPr sz="2000"/>
            </a:pPr>
            <a:r>
              <a:t>[6] Breiman (2001). Random Forests. Machine Learning</a:t>
            </a:r>
          </a:p>
          <a:p>
            <a:pPr>
              <a:defRPr sz="2000"/>
            </a:pPr>
            <a:r>
              <a:t>[7] Wilcoxon (1945). Signed-Rank Test. Biometrics Bulletin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Acknowledgments: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Dr. Nabil Neggaz – Course Professor &amp; Supervisor</a:t>
            </a:r>
          </a:p>
          <a:p>
            <a:pPr>
              <a:defRPr sz="2000"/>
            </a:pPr>
            <a:r>
              <a:t>• USTO-MB Computer Science Department</a:t>
            </a:r>
          </a:p>
          <a:p>
            <a:pPr>
              <a:defRPr sz="2000"/>
            </a:pPr>
            <a:r>
              <a:t>• DIO Creators: Dr. Mirjalili &amp; Team</a:t>
            </a:r>
          </a:p>
          <a:p>
            <a:pPr>
              <a:defRPr sz="2000"/>
            </a:pPr>
            <a:r>
              <a:t>• Open-Source: scikit-learn, XGBoost, NumPy</a:t>
            </a:r>
          </a:p>
          <a:p>
            <a:pPr>
              <a:defRPr sz="2000"/>
            </a:pPr>
          </a:p>
          <a:p>
            <a:pPr>
              <a:defRPr sz="2000"/>
            </a:pPr>
          </a:p>
          <a:p>
            <a:pPr>
              <a:defRPr sz="2000"/>
            </a:pPr>
          </a:p>
          <a:p>
            <a:pPr>
              <a:defRPr sz="20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