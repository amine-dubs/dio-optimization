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8288000" cy="10287000"/>
  <p:notesSz cx="6858000" cy="9144000"/>
  <p:embeddedFontLst>
    <p:embeddedFont>
      <p:font typeface="Bricolage Grotesque Bold" charset="1" panose="020B0605040402000204"/>
      <p:regular r:id="rId45"/>
    </p:embeddedFont>
    <p:embeddedFont>
      <p:font typeface="Inter" charset="1" panose="020B0502030000000004"/>
      <p:regular r:id="rId46"/>
    </p:embeddedFont>
    <p:embeddedFont>
      <p:font typeface="Inter Medium" charset="1" panose="02000503000000020004"/>
      <p:regular r:id="rId47"/>
    </p:embeddedFont>
    <p:embeddedFont>
      <p:font typeface="Parmigiano Caption" charset="1" panose="00000000000000000000"/>
      <p:regular r:id="rId48"/>
    </p:embeddedFont>
    <p:embeddedFont>
      <p:font typeface="Inter Bold" charset="1" panose="020B0802030000000004"/>
      <p:regular r:id="rId49"/>
    </p:embeddedFont>
    <p:embeddedFont>
      <p:font typeface="Open Sans Bold" charset="1" panose="020B0806030504020204"/>
      <p:regular r:id="rId50"/>
    </p:embeddedFont>
    <p:embeddedFont>
      <p:font typeface="Inter Italics" charset="1" panose="020B0502030000000004"/>
      <p:regular r:id="rId51"/>
    </p:embeddedFont>
    <p:embeddedFont>
      <p:font typeface="Canva Sans" charset="1" panose="020B0503030501040103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https://github.com/amine-dubs/dio-optimization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link.springer.com/article/10.1007/s10586-025-05543-2" TargetMode="External" Type="http://schemas.openxmlformats.org/officeDocument/2006/relationships/hyperlink"/><Relationship Id="rId5" Target="https://github.com/Alyromeh/Dholes-Inspired-Optimization-D%20IO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link.springer.com/article/10.1007/s10586-025-05543-2" TargetMode="External" Type="http://schemas.openxmlformats.org/officeDocument/2006/relationships/hyperlink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4500" y="5012755"/>
            <a:ext cx="254200" cy="1294913"/>
            <a:chOff x="0" y="0"/>
            <a:chExt cx="66950" cy="341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950" cy="341047"/>
            </a:xfrm>
            <a:custGeom>
              <a:avLst/>
              <a:gdLst/>
              <a:ahLst/>
              <a:cxnLst/>
              <a:rect r="r" b="b" t="t" l="l"/>
              <a:pathLst>
                <a:path h="341047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307572"/>
                  </a:lnTo>
                  <a:cubicBezTo>
                    <a:pt x="66950" y="326060"/>
                    <a:pt x="51963" y="341047"/>
                    <a:pt x="33475" y="341047"/>
                  </a:cubicBezTo>
                  <a:lnTo>
                    <a:pt x="33475" y="341047"/>
                  </a:lnTo>
                  <a:cubicBezTo>
                    <a:pt x="24597" y="341047"/>
                    <a:pt x="16082" y="337520"/>
                    <a:pt x="9805" y="331242"/>
                  </a:cubicBezTo>
                  <a:cubicBezTo>
                    <a:pt x="3527" y="324965"/>
                    <a:pt x="0" y="316450"/>
                    <a:pt x="0" y="307572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950" cy="379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54174" y="7197560"/>
            <a:ext cx="3746991" cy="3627755"/>
          </a:xfrm>
          <a:custGeom>
            <a:avLst/>
            <a:gdLst/>
            <a:ahLst/>
            <a:cxnLst/>
            <a:rect r="r" b="b" t="t" l="l"/>
            <a:pathLst>
              <a:path h="3627755" w="3746991">
                <a:moveTo>
                  <a:pt x="0" y="0"/>
                </a:moveTo>
                <a:lnTo>
                  <a:pt x="3746991" y="0"/>
                </a:lnTo>
                <a:lnTo>
                  <a:pt x="3746991" y="3627755"/>
                </a:lnTo>
                <a:lnTo>
                  <a:pt x="0" y="3627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8200407" y="1080998"/>
            <a:ext cx="2249680" cy="2178091"/>
          </a:xfrm>
          <a:custGeom>
            <a:avLst/>
            <a:gdLst/>
            <a:ahLst/>
            <a:cxnLst/>
            <a:rect r="r" b="b" t="t" l="l"/>
            <a:pathLst>
              <a:path h="2178091" w="2249680">
                <a:moveTo>
                  <a:pt x="2249680" y="0"/>
                </a:moveTo>
                <a:lnTo>
                  <a:pt x="0" y="0"/>
                </a:lnTo>
                <a:lnTo>
                  <a:pt x="0" y="2178091"/>
                </a:lnTo>
                <a:lnTo>
                  <a:pt x="2249680" y="2178091"/>
                </a:lnTo>
                <a:lnTo>
                  <a:pt x="22496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11986" y="1004221"/>
            <a:ext cx="5935913" cy="7557297"/>
          </a:xfrm>
          <a:custGeom>
            <a:avLst/>
            <a:gdLst/>
            <a:ahLst/>
            <a:cxnLst/>
            <a:rect r="r" b="b" t="t" l="l"/>
            <a:pathLst>
              <a:path h="7557297" w="5935913">
                <a:moveTo>
                  <a:pt x="0" y="0"/>
                </a:moveTo>
                <a:lnTo>
                  <a:pt x="5935914" y="0"/>
                </a:lnTo>
                <a:lnTo>
                  <a:pt x="5935914" y="7557297"/>
                </a:lnTo>
                <a:lnTo>
                  <a:pt x="0" y="7557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28978" y="3417404"/>
            <a:ext cx="1410345" cy="1365465"/>
          </a:xfrm>
          <a:custGeom>
            <a:avLst/>
            <a:gdLst/>
            <a:ahLst/>
            <a:cxnLst/>
            <a:rect r="r" b="b" t="t" l="l"/>
            <a:pathLst>
              <a:path h="1365465" w="1410345">
                <a:moveTo>
                  <a:pt x="0" y="0"/>
                </a:moveTo>
                <a:lnTo>
                  <a:pt x="1410345" y="0"/>
                </a:lnTo>
                <a:lnTo>
                  <a:pt x="1410345" y="1365466"/>
                </a:lnTo>
                <a:lnTo>
                  <a:pt x="0" y="13654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6549" y="1511189"/>
            <a:ext cx="10966993" cy="268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2"/>
              </a:lnSpc>
            </a:pPr>
            <a:r>
              <a:rPr lang="en-US" sz="508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Nested DIO for Feature Selection</a:t>
            </a:r>
          </a:p>
          <a:p>
            <a:pPr algn="l">
              <a:lnSpc>
                <a:spcPts val="7112"/>
              </a:lnSpc>
            </a:pPr>
            <a:r>
              <a:rPr lang="en-US" sz="508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&amp; Hyperparameter Optimization</a:t>
            </a:r>
          </a:p>
          <a:p>
            <a:pPr algn="l">
              <a:lnSpc>
                <a:spcPts val="7112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62381" y="5252805"/>
            <a:ext cx="7962866" cy="193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24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Cross-Domain Validation: Medical Diagnostics → Computer Vision</a:t>
            </a:r>
          </a:p>
          <a:p>
            <a:pPr algn="l">
              <a:lnSpc>
                <a:spcPts val="3401"/>
              </a:lnSpc>
            </a:pPr>
          </a:p>
          <a:p>
            <a:pPr algn="l">
              <a:lnSpc>
                <a:spcPts val="2561"/>
              </a:lnSpc>
            </a:pPr>
          </a:p>
          <a:p>
            <a:pPr algn="l">
              <a:lnSpc>
                <a:spcPts val="2561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628792" y="9815195"/>
            <a:ext cx="1071910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USTO-MB | Computer Science | Data Science | Nov 2025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642601" y="9196963"/>
            <a:ext cx="7412673" cy="31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  <a:spcBef>
                <a:spcPct val="0"/>
              </a:spcBef>
            </a:pPr>
            <a:r>
              <a:rPr lang="en-US" sz="18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Pesented by Bellatrache Mohamed Amine  &amp; Ghizlane Cherif Imane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8981" y="9173726"/>
            <a:ext cx="3031927" cy="63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</a:pPr>
            <a:r>
              <a:rPr lang="en-US" sz="18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Professor: Dr. Neggaz Nabil</a:t>
            </a:r>
          </a:p>
          <a:p>
            <a:pPr algn="ctr">
              <a:lnSpc>
                <a:spcPts val="2561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533407" y="9005570"/>
            <a:ext cx="2667000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u="sng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  <a:hlinkClick r:id="rId8" tooltip="https://github.com/amine-dubs/dio-optimization"/>
              </a:rPr>
              <a:t>Project on Github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31173" y="95216"/>
            <a:ext cx="3825654" cy="73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3"/>
              </a:lnSpc>
              <a:spcBef>
                <a:spcPct val="0"/>
              </a:spcBef>
            </a:pPr>
            <a:r>
              <a:rPr lang="en-US" b="true" sz="424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Outline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04959" y="923925"/>
            <a:ext cx="10945971" cy="926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76"/>
              </a:lnSpc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</a:p>
          <a:p>
            <a:pPr algn="just">
              <a:lnSpc>
                <a:spcPts val="4576"/>
              </a:lnSpc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Dholes-Inspired Optimization (DIO)</a:t>
            </a:r>
          </a:p>
          <a:p>
            <a:pPr algn="just" marL="633352" indent="-316676" lvl="1">
              <a:lnSpc>
                <a:spcPts val="4576"/>
              </a:lnSpc>
              <a:buFont typeface="Arial"/>
              <a:buChar char="•"/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1.1 History &amp; Origins</a:t>
            </a:r>
          </a:p>
          <a:p>
            <a:pPr algn="just" marL="633352" indent="-316676" lvl="1">
              <a:lnSpc>
                <a:spcPts val="4576"/>
              </a:lnSpc>
              <a:buFont typeface="Arial"/>
              <a:buChar char="•"/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1.2 How DIO Works</a:t>
            </a:r>
          </a:p>
          <a:p>
            <a:pPr algn="just" marL="633352" indent="-316676" lvl="1">
              <a:lnSpc>
                <a:spcPts val="4576"/>
              </a:lnSpc>
              <a:buFont typeface="Arial"/>
              <a:buChar char="•"/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1.3 Benchmark Comparisons</a:t>
            </a:r>
          </a:p>
          <a:p>
            <a:pPr algn="just" marL="633352" indent="-316676" lvl="1">
              <a:lnSpc>
                <a:spcPts val="4576"/>
              </a:lnSpc>
              <a:buFont typeface="Arial"/>
              <a:buChar char="•"/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1.4 Applications</a:t>
            </a:r>
          </a:p>
          <a:p>
            <a:pPr algn="just">
              <a:lnSpc>
                <a:spcPts val="4576"/>
              </a:lnSpc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Optimization Across Domains</a:t>
            </a:r>
          </a:p>
          <a:p>
            <a:pPr algn="just" marL="633352" indent="-316676" lvl="1">
              <a:lnSpc>
                <a:spcPts val="4576"/>
              </a:lnSpc>
              <a:buFont typeface="Arial"/>
              <a:buChar char="•"/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2.1 The Challenge We Faced</a:t>
            </a:r>
          </a:p>
          <a:p>
            <a:pPr algn="just" marL="633352" indent="-316676" lvl="1">
              <a:lnSpc>
                <a:spcPts val="4576"/>
              </a:lnSpc>
              <a:buFont typeface="Arial"/>
              <a:buChar char="•"/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2.2 Optimization Methodology</a:t>
            </a:r>
          </a:p>
          <a:p>
            <a:pPr algn="just" marL="633352" indent="-316676" lvl="1">
              <a:lnSpc>
                <a:spcPts val="4576"/>
              </a:lnSpc>
              <a:buFont typeface="Arial"/>
              <a:buChar char="•"/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2.3 Medical Domain: Breast Cancer</a:t>
            </a:r>
          </a:p>
          <a:p>
            <a:pPr algn="just" marL="633352" indent="-316676" lvl="1">
              <a:lnSpc>
                <a:spcPts val="4576"/>
              </a:lnSpc>
              <a:buFont typeface="Arial"/>
              <a:buChar char="•"/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2.4 Computer Vision: CIFAR-10</a:t>
            </a:r>
          </a:p>
          <a:p>
            <a:pPr algn="just" marL="633352" indent="-316676" lvl="1">
              <a:lnSpc>
                <a:spcPts val="4576"/>
              </a:lnSpc>
              <a:buFont typeface="Arial"/>
              <a:buChar char="•"/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2.5 Cross-Domain Insights</a:t>
            </a:r>
          </a:p>
          <a:p>
            <a:pPr algn="just">
              <a:lnSpc>
                <a:spcPts val="4576"/>
              </a:lnSpc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Future Research Directions and practical recommendations </a:t>
            </a:r>
          </a:p>
          <a:p>
            <a:pPr algn="just">
              <a:lnSpc>
                <a:spcPts val="4576"/>
              </a:lnSpc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DIO: Key Advantages and Limitations</a:t>
            </a:r>
          </a:p>
          <a:p>
            <a:pPr algn="just">
              <a:lnSpc>
                <a:spcPts val="4576"/>
              </a:lnSpc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5. Conclusion &amp; Key Contributions</a:t>
            </a:r>
          </a:p>
          <a:p>
            <a:pPr algn="just">
              <a:lnSpc>
                <a:spcPts val="4576"/>
              </a:lnSpc>
            </a:pPr>
            <a:r>
              <a:rPr lang="en-US" sz="29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6. 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82676" y="9779024"/>
            <a:ext cx="6822441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00000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Parmigiano Caption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10005" y="255969"/>
            <a:ext cx="5965433" cy="1172612"/>
            <a:chOff x="0" y="0"/>
            <a:chExt cx="7953911" cy="156348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7953911" cy="12596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18"/>
                </a:lnSpc>
                <a:spcBef>
                  <a:spcPct val="0"/>
                </a:spcBef>
              </a:pPr>
              <a:r>
                <a:rPr lang="en-US" sz="5656" b="true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Introduction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53566"/>
              <a:ext cx="7953911" cy="309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07863" y="1205178"/>
            <a:ext cx="15804867" cy="93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Breast cancer is one of the deadliest diseases affecting women worldwide [2]</a:t>
            </a:r>
          </a:p>
          <a:p>
            <a:pPr algn="l">
              <a:lnSpc>
                <a:spcPts val="5335"/>
              </a:lnSpc>
            </a:pPr>
          </a:p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Machine learning shows promise, but faces real challenges:</a:t>
            </a:r>
          </a:p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Medical datasets have 30+ features—which ones really matter?</a:t>
            </a:r>
          </a:p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A model's success depends on both the features AND its settings</a:t>
            </a:r>
          </a:p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Picking features first, then tuning later misses important connections</a:t>
            </a:r>
          </a:p>
          <a:p>
            <a:pPr algn="l">
              <a:lnSpc>
                <a:spcPts val="5335"/>
              </a:lnSpc>
            </a:pPr>
          </a:p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old way: Choose features → Train model → Tune parameters</a:t>
            </a:r>
          </a:p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problem: What if the best features change depending on the parameters?</a:t>
            </a:r>
          </a:p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•Our approach: Optimize both together using DIO [1]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842958" y="1028700"/>
            <a:ext cx="371483" cy="5802569"/>
            <a:chOff x="0" y="0"/>
            <a:chExt cx="97839" cy="1528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39" cy="1528249"/>
            </a:xfrm>
            <a:custGeom>
              <a:avLst/>
              <a:gdLst/>
              <a:ahLst/>
              <a:cxnLst/>
              <a:rect r="r" b="b" t="t" l="l"/>
              <a:pathLst>
                <a:path h="1528249" w="97839">
                  <a:moveTo>
                    <a:pt x="48920" y="0"/>
                  </a:moveTo>
                  <a:lnTo>
                    <a:pt x="48920" y="0"/>
                  </a:lnTo>
                  <a:cubicBezTo>
                    <a:pt x="75937" y="0"/>
                    <a:pt x="97839" y="21902"/>
                    <a:pt x="97839" y="48920"/>
                  </a:cubicBezTo>
                  <a:lnTo>
                    <a:pt x="97839" y="1479329"/>
                  </a:lnTo>
                  <a:cubicBezTo>
                    <a:pt x="97839" y="1492303"/>
                    <a:pt x="92685" y="1504746"/>
                    <a:pt x="83511" y="1513920"/>
                  </a:cubicBezTo>
                  <a:cubicBezTo>
                    <a:pt x="74337" y="1523095"/>
                    <a:pt x="61894" y="1528249"/>
                    <a:pt x="48920" y="1528249"/>
                  </a:cubicBezTo>
                  <a:lnTo>
                    <a:pt x="48920" y="1528249"/>
                  </a:lnTo>
                  <a:cubicBezTo>
                    <a:pt x="35945" y="1528249"/>
                    <a:pt x="23502" y="1523095"/>
                    <a:pt x="14328" y="1513920"/>
                  </a:cubicBezTo>
                  <a:cubicBezTo>
                    <a:pt x="5154" y="1504746"/>
                    <a:pt x="0" y="1492303"/>
                    <a:pt x="0" y="1479329"/>
                  </a:cubicBezTo>
                  <a:lnTo>
                    <a:pt x="0" y="48920"/>
                  </a:lnTo>
                  <a:cubicBezTo>
                    <a:pt x="0" y="35945"/>
                    <a:pt x="5154" y="23502"/>
                    <a:pt x="14328" y="14328"/>
                  </a:cubicBezTo>
                  <a:cubicBezTo>
                    <a:pt x="23502" y="5154"/>
                    <a:pt x="35945" y="0"/>
                    <a:pt x="489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7839" cy="1566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287696" y="8654814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6949358" y="393648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60812" y="243221"/>
            <a:ext cx="10166377" cy="112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2"/>
              </a:lnSpc>
              <a:spcBef>
                <a:spcPct val="0"/>
              </a:spcBef>
            </a:pPr>
            <a:r>
              <a:rPr lang="en-US" b="true" sz="655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1.1 DIO: History &amp; Origins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30231" y="4462432"/>
            <a:ext cx="5025116" cy="1725723"/>
            <a:chOff x="0" y="0"/>
            <a:chExt cx="1323487" cy="4545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3487" cy="454511"/>
            </a:xfrm>
            <a:custGeom>
              <a:avLst/>
              <a:gdLst/>
              <a:ahLst/>
              <a:cxnLst/>
              <a:rect r="r" b="b" t="t" l="l"/>
              <a:pathLst>
                <a:path h="454511" w="1323487">
                  <a:moveTo>
                    <a:pt x="69329" y="0"/>
                  </a:moveTo>
                  <a:lnTo>
                    <a:pt x="1254158" y="0"/>
                  </a:lnTo>
                  <a:cubicBezTo>
                    <a:pt x="1292448" y="0"/>
                    <a:pt x="1323487" y="31040"/>
                    <a:pt x="1323487" y="69329"/>
                  </a:cubicBezTo>
                  <a:lnTo>
                    <a:pt x="1323487" y="385182"/>
                  </a:lnTo>
                  <a:cubicBezTo>
                    <a:pt x="1323487" y="423472"/>
                    <a:pt x="1292448" y="454511"/>
                    <a:pt x="1254158" y="454511"/>
                  </a:cubicBezTo>
                  <a:lnTo>
                    <a:pt x="69329" y="454511"/>
                  </a:lnTo>
                  <a:cubicBezTo>
                    <a:pt x="31040" y="454511"/>
                    <a:pt x="0" y="423472"/>
                    <a:pt x="0" y="385182"/>
                  </a:cubicBezTo>
                  <a:lnTo>
                    <a:pt x="0" y="69329"/>
                  </a:lnTo>
                  <a:cubicBezTo>
                    <a:pt x="0" y="31040"/>
                    <a:pt x="31040" y="0"/>
                    <a:pt x="693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23487" cy="50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Ali El Romeh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73374" y="6399268"/>
            <a:ext cx="44187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31442" y="4462432"/>
            <a:ext cx="5025116" cy="1725723"/>
            <a:chOff x="0" y="0"/>
            <a:chExt cx="1323487" cy="4545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23487" cy="454511"/>
            </a:xfrm>
            <a:custGeom>
              <a:avLst/>
              <a:gdLst/>
              <a:ahLst/>
              <a:cxnLst/>
              <a:rect r="r" b="b" t="t" l="l"/>
              <a:pathLst>
                <a:path h="454511" w="1323487">
                  <a:moveTo>
                    <a:pt x="69329" y="0"/>
                  </a:moveTo>
                  <a:lnTo>
                    <a:pt x="1254158" y="0"/>
                  </a:lnTo>
                  <a:cubicBezTo>
                    <a:pt x="1292448" y="0"/>
                    <a:pt x="1323487" y="31040"/>
                    <a:pt x="1323487" y="69329"/>
                  </a:cubicBezTo>
                  <a:lnTo>
                    <a:pt x="1323487" y="385182"/>
                  </a:lnTo>
                  <a:cubicBezTo>
                    <a:pt x="1323487" y="423472"/>
                    <a:pt x="1292448" y="454511"/>
                    <a:pt x="1254158" y="454511"/>
                  </a:cubicBezTo>
                  <a:lnTo>
                    <a:pt x="69329" y="454511"/>
                  </a:lnTo>
                  <a:cubicBezTo>
                    <a:pt x="31040" y="454511"/>
                    <a:pt x="0" y="423472"/>
                    <a:pt x="0" y="385182"/>
                  </a:cubicBezTo>
                  <a:lnTo>
                    <a:pt x="0" y="69329"/>
                  </a:lnTo>
                  <a:cubicBezTo>
                    <a:pt x="0" y="31040"/>
                    <a:pt x="31040" y="0"/>
                    <a:pt x="693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323487" cy="50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Seyedali Mirjalili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628108" y="4462432"/>
            <a:ext cx="5025116" cy="1772690"/>
            <a:chOff x="0" y="0"/>
            <a:chExt cx="1323487" cy="4668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23487" cy="466881"/>
            </a:xfrm>
            <a:custGeom>
              <a:avLst/>
              <a:gdLst/>
              <a:ahLst/>
              <a:cxnLst/>
              <a:rect r="r" b="b" t="t" l="l"/>
              <a:pathLst>
                <a:path h="466881" w="1323487">
                  <a:moveTo>
                    <a:pt x="69329" y="0"/>
                  </a:moveTo>
                  <a:lnTo>
                    <a:pt x="1254158" y="0"/>
                  </a:lnTo>
                  <a:cubicBezTo>
                    <a:pt x="1292448" y="0"/>
                    <a:pt x="1323487" y="31040"/>
                    <a:pt x="1323487" y="69329"/>
                  </a:cubicBezTo>
                  <a:lnTo>
                    <a:pt x="1323487" y="397552"/>
                  </a:lnTo>
                  <a:cubicBezTo>
                    <a:pt x="1323487" y="435842"/>
                    <a:pt x="1292448" y="466881"/>
                    <a:pt x="1254158" y="466881"/>
                  </a:cubicBezTo>
                  <a:lnTo>
                    <a:pt x="69329" y="466881"/>
                  </a:lnTo>
                  <a:cubicBezTo>
                    <a:pt x="31040" y="466881"/>
                    <a:pt x="0" y="435842"/>
                    <a:pt x="0" y="397552"/>
                  </a:cubicBezTo>
                  <a:lnTo>
                    <a:pt x="0" y="69329"/>
                  </a:lnTo>
                  <a:cubicBezTo>
                    <a:pt x="0" y="31040"/>
                    <a:pt x="31040" y="0"/>
                    <a:pt x="693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23487" cy="514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Václav Snášel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-96140" y="4527882"/>
            <a:ext cx="2249680" cy="2178091"/>
          </a:xfrm>
          <a:custGeom>
            <a:avLst/>
            <a:gdLst/>
            <a:ahLst/>
            <a:cxnLst/>
            <a:rect r="r" b="b" t="t" l="l"/>
            <a:pathLst>
              <a:path h="2178091" w="2249680">
                <a:moveTo>
                  <a:pt x="2249680" y="0"/>
                </a:moveTo>
                <a:lnTo>
                  <a:pt x="0" y="0"/>
                </a:lnTo>
                <a:lnTo>
                  <a:pt x="0" y="2178091"/>
                </a:lnTo>
                <a:lnTo>
                  <a:pt x="2249680" y="2178091"/>
                </a:lnTo>
                <a:lnTo>
                  <a:pt x="22496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292865" y="2237374"/>
            <a:ext cx="2249680" cy="2178091"/>
          </a:xfrm>
          <a:custGeom>
            <a:avLst/>
            <a:gdLst/>
            <a:ahLst/>
            <a:cxnLst/>
            <a:rect r="r" b="b" t="t" l="l"/>
            <a:pathLst>
              <a:path h="2178091" w="2249680">
                <a:moveTo>
                  <a:pt x="0" y="0"/>
                </a:moveTo>
                <a:lnTo>
                  <a:pt x="2249680" y="0"/>
                </a:lnTo>
                <a:lnTo>
                  <a:pt x="2249680" y="2178091"/>
                </a:lnTo>
                <a:lnTo>
                  <a:pt x="0" y="2178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363640" y="2711653"/>
            <a:ext cx="9560719" cy="55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1"/>
              </a:lnSpc>
              <a:spcBef>
                <a:spcPct val="0"/>
              </a:spcBef>
            </a:pPr>
            <a:r>
              <a:rPr lang="en-US" sz="32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•Created in 2025 by international researchers [1]: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96773" y="7175085"/>
            <a:ext cx="11494453" cy="204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1"/>
              </a:lnSpc>
              <a:spcBef>
                <a:spcPct val="0"/>
              </a:spcBef>
            </a:pPr>
            <a:r>
              <a:rPr lang="en-US" sz="29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•Published in Cluster Computing (</a:t>
            </a:r>
            <a:r>
              <a:rPr lang="en-US" sz="292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 tooltip="https://link.springer.com/article/10.1007/s10586-025-05543-2"/>
              </a:rPr>
              <a:t>Springer</a:t>
            </a:r>
            <a:r>
              <a:rPr lang="en-US" sz="29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)—a prestigious journal</a:t>
            </a:r>
          </a:p>
          <a:p>
            <a:pPr algn="ctr">
              <a:lnSpc>
                <a:spcPts val="4101"/>
              </a:lnSpc>
              <a:spcBef>
                <a:spcPct val="0"/>
              </a:spcBef>
            </a:pPr>
            <a:r>
              <a:rPr lang="en-US" sz="29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DOI: 10.1007/s10586-025-05543-2</a:t>
            </a:r>
          </a:p>
          <a:p>
            <a:pPr algn="ctr">
              <a:lnSpc>
                <a:spcPts val="4101"/>
              </a:lnSpc>
              <a:spcBef>
                <a:spcPct val="0"/>
              </a:spcBef>
            </a:pPr>
            <a:r>
              <a:rPr lang="en-US" sz="29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Peer-reviewed and rigorously tested</a:t>
            </a:r>
          </a:p>
          <a:p>
            <a:pPr algn="ctr">
              <a:lnSpc>
                <a:spcPts val="4101"/>
              </a:lnSpc>
              <a:spcBef>
                <a:spcPct val="0"/>
              </a:spcBef>
            </a:pPr>
            <a:r>
              <a:rPr lang="en-US" sz="292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5" tooltip="https://github.com/Alyromeh/Dholes-Inspired-Optimization-D%20IO"/>
              </a:rPr>
              <a:t>github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6373" y="269900"/>
            <a:ext cx="14095255" cy="87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1"/>
              </a:lnSpc>
            </a:pPr>
            <a:r>
              <a:rPr lang="en-US" sz="517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1.2 How DIO Works: The Hunting Strategies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00628" y="1892935"/>
            <a:ext cx="11086743" cy="643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Dholes use three hunting strategies: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Strategy 1: Chase the Leader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Follow the best hunter toward the prey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In optimization: Exploit the best solution found so far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Strategy 2: Try Random Directions  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Check what other pack members are discovering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In optimization: Explore new areas of the search space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Strategy 3: Stick with the Pack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Move toward the group's center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In optimization: Balance between extremes, avoid getting stuck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68583" y="9070340"/>
            <a:ext cx="8691325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DIO translates dhole pack hunting into mathematics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54235" y="422389"/>
            <a:ext cx="11468479" cy="1696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1"/>
              </a:lnSpc>
            </a:pPr>
            <a:r>
              <a:rPr lang="en-US" sz="4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DIO maps dhole behavior to algorithm: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99221" y="2841604"/>
            <a:ext cx="769846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Lead vocalizer → Best solution guides search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99221" y="3961110"/>
            <a:ext cx="1087409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Vocal signals → V parameter controls exploration ↔ exploitation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99221" y="6101154"/>
            <a:ext cx="1050845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Territorial instincts → Boundary constraints (stay in valid zone)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0082" y="7125410"/>
            <a:ext cx="1093674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Pack hierarchy → Dynamic leadership updates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93621" y="5076825"/>
            <a:ext cx="1067871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Cooperative hunting → Pack moves cooperatively (avoid traps)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312189" y="3245293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4"/>
                </a:lnTo>
                <a:lnTo>
                  <a:pt x="3385756" y="3278014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57729" y="3583951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6" y="0"/>
                </a:lnTo>
                <a:lnTo>
                  <a:pt x="3385756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81584" y="109700"/>
            <a:ext cx="10124832" cy="117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77"/>
              </a:lnSpc>
              <a:spcBef>
                <a:spcPct val="0"/>
              </a:spcBef>
            </a:pPr>
            <a:r>
              <a:rPr lang="en-US" sz="6841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DIO: The Math Behind It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16295" y="4074705"/>
            <a:ext cx="6915162" cy="1454012"/>
            <a:chOff x="0" y="0"/>
            <a:chExt cx="9220216" cy="193868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87905" y="694718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 = r + sin(r × π)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887905" y="-47625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C. Sinusoidal Oscillation (Eq. 3)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0" y="0"/>
              <a:ext cx="338934" cy="1938683"/>
              <a:chOff x="0" y="0"/>
              <a:chExt cx="66950" cy="38295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6950" cy="382950"/>
              </a:xfrm>
              <a:custGeom>
                <a:avLst/>
                <a:gdLst/>
                <a:ahLst/>
                <a:cxnLst/>
                <a:rect r="r" b="b" t="t" l="l"/>
                <a:pathLst>
                  <a:path h="382950" w="66950">
                    <a:moveTo>
                      <a:pt x="33475" y="0"/>
                    </a:moveTo>
                    <a:lnTo>
                      <a:pt x="33475" y="0"/>
                    </a:lnTo>
                    <a:cubicBezTo>
                      <a:pt x="42353" y="0"/>
                      <a:pt x="50868" y="3527"/>
                      <a:pt x="57145" y="9805"/>
                    </a:cubicBezTo>
                    <a:cubicBezTo>
                      <a:pt x="63423" y="16082"/>
                      <a:pt x="66950" y="24597"/>
                      <a:pt x="66950" y="33475"/>
                    </a:cubicBezTo>
                    <a:lnTo>
                      <a:pt x="66950" y="349475"/>
                    </a:lnTo>
                    <a:cubicBezTo>
                      <a:pt x="66950" y="367962"/>
                      <a:pt x="51963" y="382950"/>
                      <a:pt x="33475" y="382950"/>
                    </a:cubicBezTo>
                    <a:lnTo>
                      <a:pt x="33475" y="382950"/>
                    </a:lnTo>
                    <a:cubicBezTo>
                      <a:pt x="14987" y="382950"/>
                      <a:pt x="0" y="367962"/>
                      <a:pt x="0" y="349475"/>
                    </a:cubicBezTo>
                    <a:lnTo>
                      <a:pt x="0" y="33475"/>
                    </a:lnTo>
                    <a:cubicBezTo>
                      <a:pt x="0" y="14987"/>
                      <a:pt x="14987" y="0"/>
                      <a:pt x="334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6950" cy="421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0128323" y="3768946"/>
            <a:ext cx="6915162" cy="1454012"/>
            <a:chOff x="0" y="0"/>
            <a:chExt cx="9220216" cy="193868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887905" y="694718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D_lead = |C × (LeadVocalizer_pos)² - (dhole)²|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887905" y="-47625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D. Distance to Lead Vocalizer (Eq. 4)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0"/>
              <a:ext cx="338934" cy="1938683"/>
              <a:chOff x="0" y="0"/>
              <a:chExt cx="66950" cy="3829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6950" cy="382950"/>
              </a:xfrm>
              <a:custGeom>
                <a:avLst/>
                <a:gdLst/>
                <a:ahLst/>
                <a:cxnLst/>
                <a:rect r="r" b="b" t="t" l="l"/>
                <a:pathLst>
                  <a:path h="382950" w="66950">
                    <a:moveTo>
                      <a:pt x="33475" y="0"/>
                    </a:moveTo>
                    <a:lnTo>
                      <a:pt x="33475" y="0"/>
                    </a:lnTo>
                    <a:cubicBezTo>
                      <a:pt x="42353" y="0"/>
                      <a:pt x="50868" y="3527"/>
                      <a:pt x="57145" y="9805"/>
                    </a:cubicBezTo>
                    <a:cubicBezTo>
                      <a:pt x="63423" y="16082"/>
                      <a:pt x="66950" y="24597"/>
                      <a:pt x="66950" y="33475"/>
                    </a:cubicBezTo>
                    <a:lnTo>
                      <a:pt x="66950" y="349475"/>
                    </a:lnTo>
                    <a:cubicBezTo>
                      <a:pt x="66950" y="367962"/>
                      <a:pt x="51963" y="382950"/>
                      <a:pt x="33475" y="382950"/>
                    </a:cubicBezTo>
                    <a:lnTo>
                      <a:pt x="33475" y="382950"/>
                    </a:lnTo>
                    <a:cubicBezTo>
                      <a:pt x="14987" y="382950"/>
                      <a:pt x="0" y="367962"/>
                      <a:pt x="0" y="349475"/>
                    </a:cubicBezTo>
                    <a:lnTo>
                      <a:pt x="0" y="33475"/>
                    </a:lnTo>
                    <a:cubicBezTo>
                      <a:pt x="0" y="14987"/>
                      <a:pt x="14987" y="0"/>
                      <a:pt x="334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66950" cy="421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316295" y="1492752"/>
            <a:ext cx="6915162" cy="1454012"/>
            <a:chOff x="0" y="0"/>
            <a:chExt cx="9220216" cy="193868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887905" y="694718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V(t) = 2 - (2*t / MaxIter)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887905" y="-47625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A. Vocalization Influence (Eq. 1)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0" y="0"/>
              <a:ext cx="338934" cy="1938683"/>
              <a:chOff x="0" y="0"/>
              <a:chExt cx="66950" cy="3829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6950" cy="382950"/>
              </a:xfrm>
              <a:custGeom>
                <a:avLst/>
                <a:gdLst/>
                <a:ahLst/>
                <a:cxnLst/>
                <a:rect r="r" b="b" t="t" l="l"/>
                <a:pathLst>
                  <a:path h="382950" w="66950">
                    <a:moveTo>
                      <a:pt x="33475" y="0"/>
                    </a:moveTo>
                    <a:lnTo>
                      <a:pt x="33475" y="0"/>
                    </a:lnTo>
                    <a:cubicBezTo>
                      <a:pt x="42353" y="0"/>
                      <a:pt x="50868" y="3527"/>
                      <a:pt x="57145" y="9805"/>
                    </a:cubicBezTo>
                    <a:cubicBezTo>
                      <a:pt x="63423" y="16082"/>
                      <a:pt x="66950" y="24597"/>
                      <a:pt x="66950" y="33475"/>
                    </a:cubicBezTo>
                    <a:lnTo>
                      <a:pt x="66950" y="349475"/>
                    </a:lnTo>
                    <a:cubicBezTo>
                      <a:pt x="66950" y="367962"/>
                      <a:pt x="51963" y="382950"/>
                      <a:pt x="33475" y="382950"/>
                    </a:cubicBezTo>
                    <a:lnTo>
                      <a:pt x="33475" y="382950"/>
                    </a:lnTo>
                    <a:cubicBezTo>
                      <a:pt x="14987" y="382950"/>
                      <a:pt x="0" y="367962"/>
                      <a:pt x="0" y="349475"/>
                    </a:cubicBezTo>
                    <a:lnTo>
                      <a:pt x="0" y="33475"/>
                    </a:lnTo>
                    <a:cubicBezTo>
                      <a:pt x="0" y="14987"/>
                      <a:pt x="14987" y="0"/>
                      <a:pt x="334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66950" cy="421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10128323" y="1472714"/>
            <a:ext cx="6915162" cy="1454012"/>
            <a:chOff x="0" y="0"/>
            <a:chExt cx="9220216" cy="1938683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887905" y="694718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 = V × r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87905" y="-47625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B. Movement Scaling Factor (Eq. 2)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0"/>
              <a:ext cx="338934" cy="1938683"/>
              <a:chOff x="0" y="0"/>
              <a:chExt cx="66950" cy="38295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6950" cy="382950"/>
              </a:xfrm>
              <a:custGeom>
                <a:avLst/>
                <a:gdLst/>
                <a:ahLst/>
                <a:cxnLst/>
                <a:rect r="r" b="b" t="t" l="l"/>
                <a:pathLst>
                  <a:path h="382950" w="66950">
                    <a:moveTo>
                      <a:pt x="33475" y="0"/>
                    </a:moveTo>
                    <a:lnTo>
                      <a:pt x="33475" y="0"/>
                    </a:lnTo>
                    <a:cubicBezTo>
                      <a:pt x="42353" y="0"/>
                      <a:pt x="50868" y="3527"/>
                      <a:pt x="57145" y="9805"/>
                    </a:cubicBezTo>
                    <a:cubicBezTo>
                      <a:pt x="63423" y="16082"/>
                      <a:pt x="66950" y="24597"/>
                      <a:pt x="66950" y="33475"/>
                    </a:cubicBezTo>
                    <a:lnTo>
                      <a:pt x="66950" y="349475"/>
                    </a:lnTo>
                    <a:cubicBezTo>
                      <a:pt x="66950" y="367962"/>
                      <a:pt x="51963" y="382950"/>
                      <a:pt x="33475" y="382950"/>
                    </a:cubicBezTo>
                    <a:lnTo>
                      <a:pt x="33475" y="382950"/>
                    </a:lnTo>
                    <a:cubicBezTo>
                      <a:pt x="14987" y="382950"/>
                      <a:pt x="0" y="367962"/>
                      <a:pt x="0" y="349475"/>
                    </a:cubicBezTo>
                    <a:lnTo>
                      <a:pt x="0" y="33475"/>
                    </a:lnTo>
                    <a:cubicBezTo>
                      <a:pt x="0" y="14987"/>
                      <a:pt x="14987" y="0"/>
                      <a:pt x="334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6950" cy="421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1316295" y="6516506"/>
            <a:ext cx="6915162" cy="1454012"/>
            <a:chOff x="0" y="0"/>
            <a:chExt cx="9220216" cy="1938683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887905" y="694718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X_new = LeadVocalizer_pos +B × √(D_lead)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887905" y="-47625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E. Position Update (Eq. 5)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0" y="0"/>
              <a:ext cx="338934" cy="1938683"/>
              <a:chOff x="0" y="0"/>
              <a:chExt cx="66950" cy="38295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6950" cy="382950"/>
              </a:xfrm>
              <a:custGeom>
                <a:avLst/>
                <a:gdLst/>
                <a:ahLst/>
                <a:cxnLst/>
                <a:rect r="r" b="b" t="t" l="l"/>
                <a:pathLst>
                  <a:path h="382950" w="66950">
                    <a:moveTo>
                      <a:pt x="33475" y="0"/>
                    </a:moveTo>
                    <a:lnTo>
                      <a:pt x="33475" y="0"/>
                    </a:lnTo>
                    <a:cubicBezTo>
                      <a:pt x="42353" y="0"/>
                      <a:pt x="50868" y="3527"/>
                      <a:pt x="57145" y="9805"/>
                    </a:cubicBezTo>
                    <a:cubicBezTo>
                      <a:pt x="63423" y="16082"/>
                      <a:pt x="66950" y="24597"/>
                      <a:pt x="66950" y="33475"/>
                    </a:cubicBezTo>
                    <a:lnTo>
                      <a:pt x="66950" y="349475"/>
                    </a:lnTo>
                    <a:cubicBezTo>
                      <a:pt x="66950" y="367962"/>
                      <a:pt x="51963" y="382950"/>
                      <a:pt x="33475" y="382950"/>
                    </a:cubicBezTo>
                    <a:lnTo>
                      <a:pt x="33475" y="382950"/>
                    </a:lnTo>
                    <a:cubicBezTo>
                      <a:pt x="14987" y="382950"/>
                      <a:pt x="0" y="367962"/>
                      <a:pt x="0" y="349475"/>
                    </a:cubicBezTo>
                    <a:lnTo>
                      <a:pt x="0" y="33475"/>
                    </a:lnTo>
                    <a:cubicBezTo>
                      <a:pt x="0" y="14987"/>
                      <a:pt x="14987" y="0"/>
                      <a:pt x="334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6950" cy="421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0200148" y="6213364"/>
            <a:ext cx="6915162" cy="1617842"/>
            <a:chOff x="0" y="0"/>
            <a:chExt cx="9220216" cy="2157123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887905" y="694718"/>
              <a:ext cx="8332311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If D_i &lt; lower_bound OR D_i &gt; upper_bound: D_i = lower_bound + (upper_bound - lower_bound) × rand()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887905" y="-47625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F. Boundary Constraints (Eq. 6)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0" y="0"/>
              <a:ext cx="338934" cy="1938683"/>
              <a:chOff x="0" y="0"/>
              <a:chExt cx="66950" cy="38295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66950" cy="382950"/>
              </a:xfrm>
              <a:custGeom>
                <a:avLst/>
                <a:gdLst/>
                <a:ahLst/>
                <a:cxnLst/>
                <a:rect r="r" b="b" t="t" l="l"/>
                <a:pathLst>
                  <a:path h="382950" w="66950">
                    <a:moveTo>
                      <a:pt x="33475" y="0"/>
                    </a:moveTo>
                    <a:lnTo>
                      <a:pt x="33475" y="0"/>
                    </a:lnTo>
                    <a:cubicBezTo>
                      <a:pt x="42353" y="0"/>
                      <a:pt x="50868" y="3527"/>
                      <a:pt x="57145" y="9805"/>
                    </a:cubicBezTo>
                    <a:cubicBezTo>
                      <a:pt x="63423" y="16082"/>
                      <a:pt x="66950" y="24597"/>
                      <a:pt x="66950" y="33475"/>
                    </a:cubicBezTo>
                    <a:lnTo>
                      <a:pt x="66950" y="349475"/>
                    </a:lnTo>
                    <a:cubicBezTo>
                      <a:pt x="66950" y="367962"/>
                      <a:pt x="51963" y="382950"/>
                      <a:pt x="33475" y="382950"/>
                    </a:cubicBezTo>
                    <a:lnTo>
                      <a:pt x="33475" y="382950"/>
                    </a:lnTo>
                    <a:cubicBezTo>
                      <a:pt x="14987" y="382950"/>
                      <a:pt x="0" y="367962"/>
                      <a:pt x="0" y="349475"/>
                    </a:cubicBezTo>
                    <a:lnTo>
                      <a:pt x="0" y="33475"/>
                    </a:lnTo>
                    <a:cubicBezTo>
                      <a:pt x="0" y="14987"/>
                      <a:pt x="14987" y="0"/>
                      <a:pt x="334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66950" cy="421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0">
            <a:off x="10128323" y="8531294"/>
            <a:ext cx="6915162" cy="1454012"/>
            <a:chOff x="0" y="0"/>
            <a:chExt cx="9220216" cy="1938683"/>
          </a:xfrm>
        </p:grpSpPr>
        <p:sp>
          <p:nvSpPr>
            <p:cNvPr name="TextBox 42" id="42"/>
            <p:cNvSpPr txBox="true"/>
            <p:nvPr/>
          </p:nvSpPr>
          <p:spPr>
            <a:xfrm rot="0">
              <a:off x="887905" y="694718"/>
              <a:ext cx="8332311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If fitness(D_i) &gt; fitness(LeadVocalizer): LeadVocalizer = D_i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887905" y="-47625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G. Lead Vocalizer Update (Eq. 7)</a:t>
              </a:r>
            </a:p>
          </p:txBody>
        </p:sp>
        <p:grpSp>
          <p:nvGrpSpPr>
            <p:cNvPr name="Group 44" id="44"/>
            <p:cNvGrpSpPr/>
            <p:nvPr/>
          </p:nvGrpSpPr>
          <p:grpSpPr>
            <a:xfrm rot="0">
              <a:off x="0" y="0"/>
              <a:ext cx="338934" cy="1938683"/>
              <a:chOff x="0" y="0"/>
              <a:chExt cx="66950" cy="38295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66950" cy="382950"/>
              </a:xfrm>
              <a:custGeom>
                <a:avLst/>
                <a:gdLst/>
                <a:ahLst/>
                <a:cxnLst/>
                <a:rect r="r" b="b" t="t" l="l"/>
                <a:pathLst>
                  <a:path h="382950" w="66950">
                    <a:moveTo>
                      <a:pt x="33475" y="0"/>
                    </a:moveTo>
                    <a:lnTo>
                      <a:pt x="33475" y="0"/>
                    </a:lnTo>
                    <a:cubicBezTo>
                      <a:pt x="42353" y="0"/>
                      <a:pt x="50868" y="3527"/>
                      <a:pt x="57145" y="9805"/>
                    </a:cubicBezTo>
                    <a:cubicBezTo>
                      <a:pt x="63423" y="16082"/>
                      <a:pt x="66950" y="24597"/>
                      <a:pt x="66950" y="33475"/>
                    </a:cubicBezTo>
                    <a:lnTo>
                      <a:pt x="66950" y="349475"/>
                    </a:lnTo>
                    <a:cubicBezTo>
                      <a:pt x="66950" y="367962"/>
                      <a:pt x="51963" y="382950"/>
                      <a:pt x="33475" y="382950"/>
                    </a:cubicBezTo>
                    <a:lnTo>
                      <a:pt x="33475" y="382950"/>
                    </a:lnTo>
                    <a:cubicBezTo>
                      <a:pt x="14987" y="382950"/>
                      <a:pt x="0" y="367962"/>
                      <a:pt x="0" y="349475"/>
                    </a:cubicBezTo>
                    <a:lnTo>
                      <a:pt x="0" y="33475"/>
                    </a:lnTo>
                    <a:cubicBezTo>
                      <a:pt x="0" y="14987"/>
                      <a:pt x="14987" y="0"/>
                      <a:pt x="334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66950" cy="421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21713" y="109652"/>
            <a:ext cx="10844575" cy="91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7"/>
              </a:lnSpc>
            </a:pPr>
            <a:r>
              <a:rPr lang="en-US" sz="536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DIO Algorithm: Pseudocode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87159" y="1502086"/>
            <a:ext cx="776656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Initialize population D with random positions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87159" y="2178217"/>
            <a:ext cx="621768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Evaluate fitness of each dhole in D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87159" y="2964491"/>
            <a:ext cx="7684294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Set lead_vocalizer = dhole with best fitness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87159" y="3640622"/>
            <a:ext cx="438638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For t = 1 to Max_iter do: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535115" y="4426897"/>
            <a:ext cx="8439269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a. Calculate V using Eq. 1: V = 2 - (2 × t) / Max_iter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535115" y="5076825"/>
            <a:ext cx="8906470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b. Determine phase (0 = exploration, 1 = exploitation)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35115" y="5686588"/>
            <a:ext cx="486715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c. For each dhole D_i in D do: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6181888"/>
            <a:ext cx="12790124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phase == 0 (exploration):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  If rand() &lt; 0.5: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                                            D_i = lb + rand(1, dim) × (ub - lb)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180737" y="7939568"/>
            <a:ext cx="78795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Else: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535115" y="8272943"/>
            <a:ext cx="8535530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Calculate B (Eq. 2) and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Calculate D_lead (Eq. 4)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              Update position using X_lead (Eq. 5)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   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32803" y="2256886"/>
            <a:ext cx="6694408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iii. Apply boundary check for D_i (Eq. 6)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732803" y="3481070"/>
            <a:ext cx="4172664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iv. Evaluate fitness of D_i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039665" y="4464733"/>
            <a:ext cx="6873716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v. If fitness(D_i) &lt; fitness(lead_vocalizer):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      lead_vocalizer = D_i 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81077" y="7167880"/>
            <a:ext cx="8597861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5. Return position of lead_vocalizer as best solution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913382" y="2256886"/>
            <a:ext cx="734591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"Est-ce que ce dhole est sorti du territoire 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90522" y="1319225"/>
            <a:ext cx="5506957" cy="7648551"/>
          </a:xfrm>
          <a:custGeom>
            <a:avLst/>
            <a:gdLst/>
            <a:ahLst/>
            <a:cxnLst/>
            <a:rect r="r" b="b" t="t" l="l"/>
            <a:pathLst>
              <a:path h="7648551" w="5506957">
                <a:moveTo>
                  <a:pt x="0" y="0"/>
                </a:moveTo>
                <a:lnTo>
                  <a:pt x="5506956" y="0"/>
                </a:lnTo>
                <a:lnTo>
                  <a:pt x="5506956" y="7648550"/>
                </a:lnTo>
                <a:lnTo>
                  <a:pt x="0" y="7648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22285" y="464644"/>
            <a:ext cx="11481078" cy="1491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424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DIO Algorithm Flowchart [1]</a:t>
            </a:r>
          </a:p>
          <a:p>
            <a:pPr algn="ctr">
              <a:lnSpc>
                <a:spcPts val="5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24554" y="335027"/>
            <a:ext cx="13196439" cy="173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2"/>
              </a:lnSpc>
            </a:pPr>
            <a:r>
              <a:rPr lang="en-US" sz="498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Benchmark Comparaison with other metaheuristics [1]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4366" y="2213770"/>
            <a:ext cx="10352464" cy="637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•Tested on CEC2017—the gold standard for optimization algorithms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- 29 different test functions (unimodal, multimodal, hybrid, composite)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Industry standard for comparing metaheuristics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•Compared against famous algorithms: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PSO (Particle Swarm Optimization)—inspired by bird flocking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GWO (Grey Wolf Optimizer)—inspired by wolf hunting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WOA (Whale Optimization Algorithm)—inspired by whale hunting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MFO (Moth-Flame Optimization)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ALO (Ant Lion Optimizer)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•Results speak for themselves: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DIO ranked 1st or 2nd on 22 out of 29 functions (22/29 )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Beats PSO and GWO consistently on complex problems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Particularly strong at avoiding local optima traps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4224" y="9061132"/>
            <a:ext cx="1119536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•Bottom line: DIO is competitive with—and often better than—established algorithms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77944" y="1186586"/>
            <a:ext cx="9889659" cy="8818804"/>
          </a:xfrm>
          <a:custGeom>
            <a:avLst/>
            <a:gdLst/>
            <a:ahLst/>
            <a:cxnLst/>
            <a:rect r="r" b="b" t="t" l="l"/>
            <a:pathLst>
              <a:path h="8818804" w="9889659">
                <a:moveTo>
                  <a:pt x="0" y="0"/>
                </a:moveTo>
                <a:lnTo>
                  <a:pt x="9889658" y="0"/>
                </a:lnTo>
                <a:lnTo>
                  <a:pt x="9889658" y="8818803"/>
                </a:lnTo>
                <a:lnTo>
                  <a:pt x="0" y="8818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24554" y="335027"/>
            <a:ext cx="13196439" cy="851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2"/>
              </a:lnSpc>
            </a:pPr>
            <a:r>
              <a:rPr lang="en-US" sz="498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1.3 DIO vs. State-of-the-Art [1]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02489" y="305323"/>
            <a:ext cx="10987748" cy="974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9"/>
              </a:lnSpc>
            </a:pPr>
            <a:r>
              <a:rPr lang="en-US" sz="56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1.4 What Can You Use DIO For?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15352"/>
            <a:ext cx="357378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Engineering &amp; Design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522950"/>
            <a:ext cx="287829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Machine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0440" y="7255007"/>
            <a:ext cx="5357314" cy="9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Other interesting domains: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04423" y="5383005"/>
            <a:ext cx="9617189" cy="1350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255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Selecting which features to use from high-dimensional data</a:t>
            </a:r>
          </a:p>
          <a:p>
            <a:pPr algn="l">
              <a:lnSpc>
                <a:spcPts val="3582"/>
              </a:lnSpc>
            </a:pPr>
            <a:r>
              <a:rPr lang="en-US" sz="255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Tuning hyperparameters for better model performance</a:t>
            </a:r>
          </a:p>
          <a:p>
            <a:pPr algn="l">
              <a:lnSpc>
                <a:spcPts val="3582"/>
              </a:lnSpc>
            </a:pPr>
            <a:r>
              <a:rPr lang="en-US" sz="255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Neural architecture search for deep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4423" y="8043815"/>
            <a:ext cx="10388203" cy="1302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  <a:spcBef>
                <a:spcPct val="0"/>
              </a:spcBef>
            </a:pPr>
            <a:r>
              <a:rPr lang="en-US" sz="2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•- Financial portfolio optimization (maximizing returns, minimizing risk)</a:t>
            </a:r>
          </a:p>
          <a:p>
            <a:pPr algn="l">
              <a:lnSpc>
                <a:spcPts val="3449"/>
              </a:lnSpc>
              <a:spcBef>
                <a:spcPct val="0"/>
              </a:spcBef>
            </a:pPr>
            <a:r>
              <a:rPr lang="en-US" sz="2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Energy grid management (balancing supply and demand)</a:t>
            </a:r>
          </a:p>
          <a:p>
            <a:pPr algn="l">
              <a:lnSpc>
                <a:spcPts val="3449"/>
              </a:lnSpc>
              <a:spcBef>
                <a:spcPct val="0"/>
              </a:spcBef>
            </a:pPr>
            <a:r>
              <a:rPr lang="en-US" sz="2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Logistics and delivery route planning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4423" y="2863396"/>
            <a:ext cx="9359365" cy="90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  <a:spcBef>
                <a:spcPct val="0"/>
              </a:spcBef>
            </a:pPr>
            <a:r>
              <a:rPr lang="en-US" sz="26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•- Structural optimization (designing bridges, aircraft parts)</a:t>
            </a:r>
          </a:p>
          <a:p>
            <a:pPr algn="l">
              <a:lnSpc>
                <a:spcPts val="3675"/>
              </a:lnSpc>
              <a:spcBef>
                <a:spcPct val="0"/>
              </a:spcBef>
            </a:pPr>
            <a:r>
              <a:rPr lang="en-US" sz="26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Resource allocation in factories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781979" y="-214899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66422" y="7510745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6" y="0"/>
                </a:lnTo>
                <a:lnTo>
                  <a:pt x="3385756" y="3278015"/>
                </a:lnTo>
                <a:lnTo>
                  <a:pt x="0" y="3278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346165" y="693665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90432" y="529201"/>
            <a:ext cx="13907136" cy="106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b="true" sz="62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Part 2: Optimization Across Domains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6283" y="2037176"/>
            <a:ext cx="947324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Now that we understand DIO, let's see how we applied 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2911" y="3323589"/>
            <a:ext cx="11088927" cy="181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Two very different problems: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Medical: Breast cancer diagnosis (30 features, binary classification)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Vision: CIFAR-10 image classification (2048 features, 10 classes)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2911" y="5958242"/>
            <a:ext cx="8819992" cy="319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What we'll cover: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- The challenge we didn't expect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- Our nested optimization methodology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- Results from medical domain (3 different approaches!)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- Extension to computer vision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- What we learned across both domains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770834" y="676934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5" y="0"/>
                </a:moveTo>
                <a:lnTo>
                  <a:pt x="0" y="0"/>
                </a:lnTo>
                <a:lnTo>
                  <a:pt x="0" y="3278014"/>
                </a:lnTo>
                <a:lnTo>
                  <a:pt x="3385755" y="3278014"/>
                </a:lnTo>
                <a:lnTo>
                  <a:pt x="33857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29143" y="7870860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5" y="0"/>
                </a:lnTo>
                <a:lnTo>
                  <a:pt x="3385755" y="3278015"/>
                </a:lnTo>
                <a:lnTo>
                  <a:pt x="0" y="3278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1954" y="7582572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9078" y="362389"/>
            <a:ext cx="15249844" cy="102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  <a:spcBef>
                <a:spcPct val="0"/>
              </a:spcBef>
            </a:pPr>
            <a:r>
              <a:rPr lang="en-US" b="true" sz="59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2.1 The Challenge: Optimization Overfitting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8373" y="2249266"/>
            <a:ext cx="909256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faced two distinct challenges during this research: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1411" y="3015491"/>
            <a:ext cx="8012589" cy="31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• Challenge 1: The Sequential Trap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Traditional approach: Pick features first, tune parameters second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Problem: Best features depend on which parameters you use!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Solution: Optimize both </a:t>
            </a:r>
            <a:r>
              <a:rPr lang="en-US" sz="2299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simultaneously with nested DIO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31411" y="6407822"/>
            <a:ext cx="8012589" cy="31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• Challenge 2: The Overfitting Surprise (discovered the hard way)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Got 99% accuracy optimizing on one train-test split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Tested across 30 different splits: only 94.37% average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lang="en-US" sz="22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Even worse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than not optimizing at all (94.89%)!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459926" y="3691766"/>
            <a:ext cx="7799374" cy="358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What happened? </a:t>
            </a:r>
            <a:r>
              <a:rPr lang="en-US" sz="2299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Optimization overfitting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The algorithm 'memorized' that specific data split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Found parameters perfect for one partition, terrible for others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Like studying only the practice exam and bombing the real one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• This discovery shaped everything that followed...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703170" y="7858033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5" y="0"/>
                </a:moveTo>
                <a:lnTo>
                  <a:pt x="0" y="0"/>
                </a:lnTo>
                <a:lnTo>
                  <a:pt x="0" y="3278014"/>
                </a:lnTo>
                <a:lnTo>
                  <a:pt x="3385755" y="3278014"/>
                </a:lnTo>
                <a:lnTo>
                  <a:pt x="33857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8053" y="4236529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6" y="0"/>
                </a:lnTo>
                <a:lnTo>
                  <a:pt x="3385756" y="3278015"/>
                </a:lnTo>
                <a:lnTo>
                  <a:pt x="0" y="3278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666989" y="2133122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55382" y="362389"/>
            <a:ext cx="15977236" cy="106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b="true" sz="62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2.2 Our Nested Optimization 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6578" y="2037176"/>
            <a:ext cx="8596154" cy="9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developed a </a:t>
            </a:r>
            <a:r>
              <a:rPr lang="en-US" b="true" sz="27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two-level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optimization framework: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31411" y="3015491"/>
            <a:ext cx="8012589" cy="278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5CE1E6"/>
                </a:solidFill>
                <a:latin typeface="Inter"/>
                <a:ea typeface="Inter"/>
                <a:cs typeface="Inter"/>
                <a:sym typeface="Inter"/>
              </a:rPr>
              <a:t>•Outer Loop: Hyperparameter Tuning (DIO controls this)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Searches through model 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parameter space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For Random Forest: number of trees, tree depth, split criteria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For XGBoost: learning rate, max depth, regularization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31411" y="6407822"/>
            <a:ext cx="8012589" cy="31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C1FF72"/>
                </a:solidFill>
                <a:latin typeface="Inter"/>
                <a:ea typeface="Inter"/>
                <a:cs typeface="Inter"/>
                <a:sym typeface="Inter"/>
              </a:rPr>
              <a:t>•Inner Loop: Feature Selection (nested DIO controls this)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For each set of parameters, finds 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best feature subset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Binary encoding: each feature is either used (1) or not (0)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Example: [1,0,1,1,0...] means 'use features 1, 3, and 4'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459926" y="3691766"/>
            <a:ext cx="7799374" cy="31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•Fitness Function balances 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two goals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- 99% weight: Maximize 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classification 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accuracy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- 1% weight: Minimize 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number of features 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used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Key advantage: Discovers </a:t>
            </a:r>
            <a:r>
              <a:rPr lang="en-US" sz="2299" i="true">
                <a:solidFill>
                  <a:srgbClr val="00BF63"/>
                </a:solidFill>
                <a:latin typeface="Inter Italics"/>
                <a:ea typeface="Inter Italics"/>
                <a:cs typeface="Inter Italics"/>
                <a:sym typeface="Inter Italics"/>
              </a:rPr>
              <a:t>how features and parameters interact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—something sequential optimization </a:t>
            </a:r>
            <a:r>
              <a:rPr lang="en-US" sz="2299" strike="sng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misses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90034" y="373542"/>
            <a:ext cx="6307932" cy="9141930"/>
          </a:xfrm>
          <a:custGeom>
            <a:avLst/>
            <a:gdLst/>
            <a:ahLst/>
            <a:cxnLst/>
            <a:rect r="r" b="b" t="t" l="l"/>
            <a:pathLst>
              <a:path h="9141930" w="6307932">
                <a:moveTo>
                  <a:pt x="0" y="0"/>
                </a:moveTo>
                <a:lnTo>
                  <a:pt x="6307932" y="0"/>
                </a:lnTo>
                <a:lnTo>
                  <a:pt x="6307932" y="9141930"/>
                </a:lnTo>
                <a:lnTo>
                  <a:pt x="0" y="9141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18787" y="9607870"/>
            <a:ext cx="1010872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Two-level optimization: Outer loop (hyperparameters) + Inner loop (features)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09829" y="0"/>
            <a:ext cx="5265658" cy="9258300"/>
          </a:xfrm>
          <a:custGeom>
            <a:avLst/>
            <a:gdLst/>
            <a:ahLst/>
            <a:cxnLst/>
            <a:rect r="r" b="b" t="t" l="l"/>
            <a:pathLst>
              <a:path h="9258300" w="5265658">
                <a:moveTo>
                  <a:pt x="0" y="0"/>
                </a:moveTo>
                <a:lnTo>
                  <a:pt x="5265658" y="0"/>
                </a:lnTo>
                <a:lnTo>
                  <a:pt x="526565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014" y="0"/>
            <a:ext cx="5543407" cy="9258300"/>
          </a:xfrm>
          <a:custGeom>
            <a:avLst/>
            <a:gdLst/>
            <a:ahLst/>
            <a:cxnLst/>
            <a:rect r="r" b="b" t="t" l="l"/>
            <a:pathLst>
              <a:path h="9258300" w="5543407">
                <a:moveTo>
                  <a:pt x="0" y="0"/>
                </a:moveTo>
                <a:lnTo>
                  <a:pt x="5543407" y="0"/>
                </a:lnTo>
                <a:lnTo>
                  <a:pt x="554340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40895" y="0"/>
            <a:ext cx="5543407" cy="9258300"/>
          </a:xfrm>
          <a:custGeom>
            <a:avLst/>
            <a:gdLst/>
            <a:ahLst/>
            <a:cxnLst/>
            <a:rect r="r" b="b" t="t" l="l"/>
            <a:pathLst>
              <a:path h="9258300" w="5543407">
                <a:moveTo>
                  <a:pt x="0" y="0"/>
                </a:moveTo>
                <a:lnTo>
                  <a:pt x="5543407" y="0"/>
                </a:lnTo>
                <a:lnTo>
                  <a:pt x="554340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5808" y="9481520"/>
            <a:ext cx="509381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eature Selection Objective Func RF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75454" y="9481520"/>
            <a:ext cx="593709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Hyp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erparameter Selection Objective Func RF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5285" y="9481520"/>
            <a:ext cx="527462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 optimization and retreiving results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2591504" y="7008985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5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5" y="3278015"/>
                </a:lnTo>
                <a:lnTo>
                  <a:pt x="33857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53743" y="-610307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6" y="0"/>
                </a:lnTo>
                <a:lnTo>
                  <a:pt x="3385756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891934" y="8647993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4643" y="362389"/>
            <a:ext cx="16378714" cy="106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b="true" sz="62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2.3 Medical Domain: Breast Cancer Dataset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4643" y="2436018"/>
            <a:ext cx="8012589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•Wisconsin Diagnostic Breast Cancer Dataset [2]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Source: UCI Machine Learning Repository (standard benchmark)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- 569 patients: 357 benign, 212 malignant tumors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54643" y="5442097"/>
            <a:ext cx="8012589" cy="278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•30 features describing cell nuclei characteristics: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Size measurements: radius, perimeter, area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Texture: smoothness, compactness, concavity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Shape: symmetry, fractal dimension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Statistics: mean, standard error, worst (largest) values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459926" y="3017385"/>
            <a:ext cx="7799374" cy="398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•Why this matters clinically: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Early, accurate diagnosis literally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saves lives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Fewer features →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faster, cheaper 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screening tests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 Simpler models → doctors can actually understand them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Experimental setup: 70% training, 30% testing (stratified by class)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2650546" y="-537711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5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5" y="3278015"/>
                </a:lnTo>
                <a:lnTo>
                  <a:pt x="33857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13527" y="3671374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6" y="0"/>
                </a:lnTo>
                <a:lnTo>
                  <a:pt x="3385756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357631" y="8361045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34335" y="362389"/>
            <a:ext cx="16219330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b="true" sz="58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2.3.1 Approach 1: DIO-RF Single Split (The Trap)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48975"/>
            <a:ext cx="8012589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Our first attempt: Optimize 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 one fixed train-test split</a:t>
            </a:r>
          </a:p>
          <a:p>
            <a:pPr algn="l">
              <a:lnSpc>
                <a:spcPts val="3219"/>
              </a:lnSpc>
            </a:pP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Configuration: 5 dholes/10 iterations (outer), 10 dholes/20 iterations (inner)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evaluations: ~10,000 (50 outer × 200 inner)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57275" y="5997085"/>
            <a:ext cx="8012589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Initial results looked incredible: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ccuracy: </a:t>
            </a:r>
            <a:r>
              <a:rPr lang="en-US" sz="2299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99.41%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on that specific split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Only 8 features used (73% reduction from 30)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thought we'd solved it!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910856" y="2551456"/>
            <a:ext cx="7799374" cy="639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But then we ran </a:t>
            </a:r>
            <a:r>
              <a:rPr lang="en-US" sz="22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30-run statistical validation [7]...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harsh truth: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Average accuracy across 30 different splits: 94.44% ± 1.82%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Baseline (no optimization): 94.89% ± 1.47%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actually made it </a:t>
            </a:r>
            <a:r>
              <a:rPr lang="en-US" sz="2299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WORSE 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by 0.17%!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went wrong? Optimization </a:t>
            </a:r>
            <a:r>
              <a:rPr lang="en-US" sz="2299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overfitting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DIO found parameters perfect for THAT ONE split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Didn't generalize to different data partitions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Classic case of 'overfitting' but at the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optimization level, not model level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21768" y="5727260"/>
            <a:ext cx="12444464" cy="3765814"/>
          </a:xfrm>
          <a:custGeom>
            <a:avLst/>
            <a:gdLst/>
            <a:ahLst/>
            <a:cxnLst/>
            <a:rect r="r" b="b" t="t" l="l"/>
            <a:pathLst>
              <a:path h="3765814" w="12444464">
                <a:moveTo>
                  <a:pt x="0" y="0"/>
                </a:moveTo>
                <a:lnTo>
                  <a:pt x="12444464" y="0"/>
                </a:lnTo>
                <a:lnTo>
                  <a:pt x="12444464" y="3765814"/>
                </a:lnTo>
                <a:lnTo>
                  <a:pt x="0" y="3765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0" r="0" b="-9884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21768" y="235182"/>
            <a:ext cx="12444464" cy="3963672"/>
          </a:xfrm>
          <a:custGeom>
            <a:avLst/>
            <a:gdLst/>
            <a:ahLst/>
            <a:cxnLst/>
            <a:rect r="r" b="b" t="t" l="l"/>
            <a:pathLst>
              <a:path h="3963672" w="12444464">
                <a:moveTo>
                  <a:pt x="0" y="0"/>
                </a:moveTo>
                <a:lnTo>
                  <a:pt x="12444464" y="0"/>
                </a:lnTo>
                <a:lnTo>
                  <a:pt x="12444464" y="3963672"/>
                </a:lnTo>
                <a:lnTo>
                  <a:pt x="0" y="3963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0878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49141" y="9643873"/>
            <a:ext cx="6789719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BFCFC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(30 run) Statistical comparaison (RF)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89582" y="4166869"/>
            <a:ext cx="5308836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BFCFC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Single run model comparaison (RF)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2650546" y="-537711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5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5" y="3278015"/>
                </a:lnTo>
                <a:lnTo>
                  <a:pt x="33857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13527" y="3671374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6" y="0"/>
                </a:lnTo>
                <a:lnTo>
                  <a:pt x="3385756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357631" y="8361045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39163"/>
            <a:ext cx="18288000" cy="2069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  <a:spcBef>
                <a:spcPct val="0"/>
              </a:spcBef>
            </a:pPr>
            <a:r>
              <a:rPr lang="en-US" b="true" sz="59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2.3.2 Approach 2: DIO-RF with Cross-Validation (The Fix)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89787"/>
            <a:ext cx="7940863" cy="358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stead of one train-test split: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lang="en-US" b="true" sz="2299" u="sng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5-fold cross-validation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DURING the DIO search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Each candidate solution tested on 5 different data partitions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Fitness score = average performance across all 5 folds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Makes it impossible to 'cheat' by memorizing one partition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248402"/>
            <a:ext cx="8012589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esults after fixing (30-run validation):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Average accuracy: </a:t>
            </a:r>
            <a:r>
              <a:rPr lang="en-US" sz="2299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96.65%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± 1.51%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Features used: Only 6 out of 30 (80% reduction!)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F1-score: 0.9632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03796" y="2989787"/>
            <a:ext cx="7799374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Comparison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to broken single-split approach: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+1.54% accuracy improvement (statistically </a:t>
            </a:r>
            <a:r>
              <a:rPr lang="en-US" sz="2299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significant 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 &lt; 0.001)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More stable (lower standard deviation)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Overall rank: #1 among all deafult modesls tested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6136" y="2213889"/>
            <a:ext cx="13468658" cy="9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•Th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 solution: Change how we evaluate during optimization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155539" y="6785486"/>
            <a:ext cx="9132461" cy="148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 lesson: Use </a:t>
            </a:r>
            <a:r>
              <a:rPr lang="en-US" sz="2799">
                <a:solidFill>
                  <a:srgbClr val="5CE1E6"/>
                </a:solidFill>
                <a:latin typeface="Inter"/>
                <a:ea typeface="Inter"/>
                <a:cs typeface="Inter"/>
                <a:sym typeface="Inter"/>
              </a:rPr>
              <a:t>cross-validation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during 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optimization, not just for final evaluation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56759" y="5642010"/>
            <a:ext cx="13374482" cy="4059013"/>
          </a:xfrm>
          <a:custGeom>
            <a:avLst/>
            <a:gdLst/>
            <a:ahLst/>
            <a:cxnLst/>
            <a:rect r="r" b="b" t="t" l="l"/>
            <a:pathLst>
              <a:path h="4059013" w="13374482">
                <a:moveTo>
                  <a:pt x="0" y="0"/>
                </a:moveTo>
                <a:lnTo>
                  <a:pt x="13374482" y="0"/>
                </a:lnTo>
                <a:lnTo>
                  <a:pt x="13374482" y="4059013"/>
                </a:lnTo>
                <a:lnTo>
                  <a:pt x="0" y="4059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985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37709" y="249317"/>
            <a:ext cx="13374482" cy="4236564"/>
          </a:xfrm>
          <a:custGeom>
            <a:avLst/>
            <a:gdLst/>
            <a:ahLst/>
            <a:cxnLst/>
            <a:rect r="r" b="b" t="t" l="l"/>
            <a:pathLst>
              <a:path h="4236564" w="13374482">
                <a:moveTo>
                  <a:pt x="0" y="0"/>
                </a:moveTo>
                <a:lnTo>
                  <a:pt x="13374482" y="0"/>
                </a:lnTo>
                <a:lnTo>
                  <a:pt x="13374482" y="4236564"/>
                </a:lnTo>
                <a:lnTo>
                  <a:pt x="0" y="42365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5" t="0" r="0" b="-9200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49141" y="9643873"/>
            <a:ext cx="6789719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BFCFC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(30 run) Statistical comparaison (RF-CV)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70532" y="4428731"/>
            <a:ext cx="5308836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BFCFC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Single run model comparaison (RF-CV)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2650546" y="-537711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5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5" y="3278015"/>
                </a:lnTo>
                <a:lnTo>
                  <a:pt x="33857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13527" y="3671374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6" y="0"/>
                </a:lnTo>
                <a:lnTo>
                  <a:pt x="3385756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357631" y="8361045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1607" y="217191"/>
            <a:ext cx="17205961" cy="10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2.3.3 Approach 3: DIO-XGBoost (The Champion)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0427" y="2692679"/>
            <a:ext cx="7940863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Wait—can w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 do even better with a different algorithm?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Configuration: 5 dholes/10 iterations (outer), 10 dholes/20 iterations (inner)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evaluations: ~10,000 (50 outer × 200 inner)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Only </a:t>
            </a:r>
            <a:r>
              <a:rPr lang="en-US" sz="2299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54 seconds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optimization time!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427210"/>
            <a:ext cx="8012589" cy="278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Why try XGBoo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 [5]?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Gradient boosting with </a:t>
            </a:r>
            <a:r>
              <a:rPr lang="en-US" b="true" sz="2299" u="sng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built-in regularization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More hyperparameters to tune (learning rate, tree depth, subsample ratio)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Widely known to be more robust than Random Forest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Gold standard for tabular data competitions (Kaggle, etc.)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22480" y="2692679"/>
            <a:ext cx="7799374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DIO-XGBoos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 results (30-run validation):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Average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accuracy: 96.88% ± 1.10%← </a:t>
            </a:r>
            <a:r>
              <a:rPr lang="en-US" sz="2299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HIGHEST 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 ALL APPROACHES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Features: 10 out of 30 (67% reduction)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Overall rank: #1 (best performing method)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22480" y="5827260"/>
            <a:ext cx="7799374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Statis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tical significance: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Significantly better than XGBoost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defaults (</a:t>
            </a:r>
            <a:r>
              <a:rPr lang="en-US" sz="2299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p = 0.0411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 with all features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Outperformed both Random Forest approaches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Lowest variance (most stable predictions)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7519" y="833871"/>
            <a:ext cx="5341363" cy="7643399"/>
          </a:xfrm>
          <a:custGeom>
            <a:avLst/>
            <a:gdLst/>
            <a:ahLst/>
            <a:cxnLst/>
            <a:rect r="r" b="b" t="t" l="l"/>
            <a:pathLst>
              <a:path h="7643399" w="5341363">
                <a:moveTo>
                  <a:pt x="0" y="0"/>
                </a:moveTo>
                <a:lnTo>
                  <a:pt x="5341363" y="0"/>
                </a:lnTo>
                <a:lnTo>
                  <a:pt x="5341363" y="7643400"/>
                </a:lnTo>
                <a:lnTo>
                  <a:pt x="0" y="764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6" t="0" r="-7997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44764" y="4822832"/>
            <a:ext cx="11705717" cy="3561295"/>
          </a:xfrm>
          <a:custGeom>
            <a:avLst/>
            <a:gdLst/>
            <a:ahLst/>
            <a:cxnLst/>
            <a:rect r="r" b="b" t="t" l="l"/>
            <a:pathLst>
              <a:path h="3561295" w="11705717">
                <a:moveTo>
                  <a:pt x="0" y="0"/>
                </a:moveTo>
                <a:lnTo>
                  <a:pt x="11705717" y="0"/>
                </a:lnTo>
                <a:lnTo>
                  <a:pt x="11705717" y="3561294"/>
                </a:lnTo>
                <a:lnTo>
                  <a:pt x="0" y="3561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9803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65848" y="8742760"/>
            <a:ext cx="6709560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BFCFC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(30 run) Statistical comparaison (XGBoost)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0046" y="8742760"/>
            <a:ext cx="5308836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BFCFC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Single run model comparaison (XGBoost)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98352" y="1174131"/>
            <a:ext cx="9998540" cy="323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1"/>
              </a:lnSpc>
              <a:spcBef>
                <a:spcPct val="0"/>
              </a:spcBef>
            </a:pPr>
            <a:r>
              <a:rPr lang="en-US" sz="30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Surprising</a:t>
            </a:r>
            <a:r>
              <a:rPr lang="en-US" sz="30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finding:</a:t>
            </a:r>
          </a:p>
          <a:p>
            <a:pPr algn="ctr" marL="661846" indent="-330923" lvl="1">
              <a:lnSpc>
                <a:spcPts val="4291"/>
              </a:lnSpc>
              <a:buAutoNum type="arabicPeriod" startAt="1"/>
            </a:pPr>
            <a:r>
              <a:rPr lang="en-US" sz="30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XGBoost didn't need cross-validation during optimization!</a:t>
            </a:r>
          </a:p>
          <a:p>
            <a:pPr algn="ctr" marL="661846" indent="-330923" lvl="1">
              <a:lnSpc>
                <a:spcPts val="4291"/>
              </a:lnSpc>
              <a:buAutoNum type="arabicPeriod" startAt="1"/>
            </a:pPr>
            <a:r>
              <a:rPr lang="en-US" sz="30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Single-split worked fine </a:t>
            </a:r>
            <a:r>
              <a:rPr lang="en-US" sz="3065" u="sng">
                <a:solidFill>
                  <a:srgbClr val="7ED957"/>
                </a:solidFill>
                <a:latin typeface="Inter"/>
                <a:ea typeface="Inter"/>
                <a:cs typeface="Inter"/>
                <a:sym typeface="Inter"/>
              </a:rPr>
              <a:t>(inherent regularization prevented overfitting)</a:t>
            </a:r>
          </a:p>
          <a:p>
            <a:pPr algn="ctr" marL="661846" indent="-330923" lvl="1">
              <a:lnSpc>
                <a:spcPts val="4291"/>
              </a:lnSpc>
              <a:buAutoNum type="arabicPeriod" startAt="1"/>
            </a:pPr>
            <a:r>
              <a:rPr lang="en-US" sz="3065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Algorithm choice </a:t>
            </a:r>
            <a:r>
              <a:rPr lang="en-US" sz="30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matters for optimization strategy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248299" y="7478166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4"/>
                </a:lnTo>
                <a:lnTo>
                  <a:pt x="3385756" y="3278014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50035" y="157748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5" y="0"/>
                </a:lnTo>
                <a:lnTo>
                  <a:pt x="3385755" y="3278015"/>
                </a:lnTo>
                <a:lnTo>
                  <a:pt x="0" y="3278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1954" y="2870170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68843" y="1095375"/>
            <a:ext cx="7150314" cy="8923948"/>
          </a:xfrm>
          <a:custGeom>
            <a:avLst/>
            <a:gdLst/>
            <a:ahLst/>
            <a:cxnLst/>
            <a:rect r="r" b="b" t="t" l="l"/>
            <a:pathLst>
              <a:path h="8923948" w="7150314">
                <a:moveTo>
                  <a:pt x="0" y="0"/>
                </a:moveTo>
                <a:lnTo>
                  <a:pt x="7150314" y="0"/>
                </a:lnTo>
                <a:lnTo>
                  <a:pt x="7150314" y="8923948"/>
                </a:lnTo>
                <a:lnTo>
                  <a:pt x="0" y="8923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98414" y="-95250"/>
            <a:ext cx="14545469" cy="78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b="true" sz="46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2.3.4 Medical Results: Three Approaches Compared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54032" y="721677"/>
            <a:ext cx="1217993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Evolution f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r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o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m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 RF S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i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n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g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le-Spl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i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t (f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a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iled) →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 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RF-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C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V (f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i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xed) → XGB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o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ost (best)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2690485" y="0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53467" y="4209084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5" y="0"/>
                </a:lnTo>
                <a:lnTo>
                  <a:pt x="3385755" y="3278015"/>
                </a:lnTo>
                <a:lnTo>
                  <a:pt x="0" y="3278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317691" y="8898756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5" y="0"/>
                </a:moveTo>
                <a:lnTo>
                  <a:pt x="0" y="0"/>
                </a:lnTo>
                <a:lnTo>
                  <a:pt x="0" y="897255"/>
                </a:lnTo>
                <a:lnTo>
                  <a:pt x="926745" y="897255"/>
                </a:lnTo>
                <a:lnTo>
                  <a:pt x="9267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41901"/>
            <a:ext cx="16305213" cy="880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  <a:spcBef>
                <a:spcPct val="0"/>
              </a:spcBef>
            </a:pPr>
            <a:r>
              <a:rPr lang="en-US" b="true" sz="51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2.3.5 Statistical Rigor: Wilcoxon Signed-Rank Test [7]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7447" y="3109568"/>
            <a:ext cx="7940863" cy="31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Wilc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oxon Signed-Rank Test:</a:t>
            </a:r>
          </a:p>
          <a:p>
            <a:pPr algn="l">
              <a:lnSpc>
                <a:spcPts val="3219"/>
              </a:lnSpc>
            </a:pP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test (doesn't assume normal distributions)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Compares paired samples (</a:t>
            </a:r>
            <a:r>
              <a:rPr lang="en-US" sz="22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same data splits 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 fairness)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Null hypothesis: 'No real difference between methods'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7447" y="6856901"/>
            <a:ext cx="8012589" cy="278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esults for DIO-XGBoost vs baselines: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XGBoost Default: p = </a:t>
            </a:r>
            <a:r>
              <a:rPr lang="en-US" sz="2299">
                <a:solidFill>
                  <a:srgbClr val="C1FF72"/>
                </a:solidFill>
                <a:latin typeface="Inter"/>
                <a:ea typeface="Inter"/>
                <a:cs typeface="Inter"/>
                <a:sym typeface="Inter"/>
              </a:rPr>
              <a:t>0.0411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(*) → </a:t>
            </a:r>
            <a:r>
              <a:rPr lang="en-US" sz="2299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Significant improvement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Mean difference: +1.60% accuracy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RF Default: p &lt; 0.001 (***) → Highly significant improvement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33658" y="3109568"/>
            <a:ext cx="7799374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Resul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ts for DIO-RF-CV vs DIO-RF-Single: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 &lt; 0.001 (***) → Cross-validation dramatically better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Confirms </a:t>
            </a:r>
            <a:r>
              <a:rPr lang="en-US" sz="2299">
                <a:solidFill>
                  <a:srgbClr val="0CC0DF"/>
                </a:solidFill>
                <a:latin typeface="Inter"/>
                <a:ea typeface="Inter"/>
                <a:cs typeface="Inter"/>
                <a:sym typeface="Inter"/>
              </a:rPr>
              <a:t>CV is essential for RF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optimization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3688" y="1960836"/>
            <a:ext cx="1060037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runs give us averages—but are differences real or just luck?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57389" y="6232499"/>
            <a:ext cx="9132461" cy="296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Significanc</a:t>
            </a:r>
            <a:r>
              <a:rPr lang="en-US" b="true" sz="27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 levels:</a:t>
            </a:r>
          </a:p>
          <a:p>
            <a:pPr algn="l">
              <a:lnSpc>
                <a:spcPts val="3919"/>
              </a:lnSpc>
            </a:pPr>
          </a:p>
          <a:p>
            <a:pPr algn="l" marL="604516" indent="-302258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* p &lt; 0.05 (</a:t>
            </a:r>
            <a:r>
              <a:rPr lang="en-US" sz="2799">
                <a:solidFill>
                  <a:srgbClr val="C1FF72"/>
                </a:solidFill>
                <a:latin typeface="Inter"/>
                <a:ea typeface="Inter"/>
                <a:cs typeface="Inter"/>
                <a:sym typeface="Inter"/>
              </a:rPr>
              <a:t>significant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</a:p>
          <a:p>
            <a:pPr algn="l" marL="604516" indent="-302258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** p &lt; 0.01 (</a:t>
            </a:r>
            <a:r>
              <a:rPr lang="en-US" sz="2799">
                <a:solidFill>
                  <a:srgbClr val="7ED957"/>
                </a:solidFill>
                <a:latin typeface="Inter"/>
                <a:ea typeface="Inter"/>
                <a:cs typeface="Inter"/>
                <a:sym typeface="Inter"/>
              </a:rPr>
              <a:t>very significant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</a:p>
          <a:p>
            <a:pPr algn="l" marL="604516" indent="-302258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*** p &lt; 0.001 (</a:t>
            </a:r>
            <a:r>
              <a:rPr lang="en-US" sz="2799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extremely significant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</a:p>
          <a:p>
            <a:pPr algn="l" marL="604516" indent="-302258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ns = </a:t>
            </a:r>
            <a:r>
              <a:rPr lang="en-US" sz="2799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not significant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(could be chance)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6819344" y="8357864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86262" y="-610307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5" y="0"/>
                </a:lnTo>
                <a:lnTo>
                  <a:pt x="3385755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784082" y="7178499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5" y="0"/>
                </a:moveTo>
                <a:lnTo>
                  <a:pt x="0" y="0"/>
                </a:lnTo>
                <a:lnTo>
                  <a:pt x="0" y="897255"/>
                </a:lnTo>
                <a:lnTo>
                  <a:pt x="926745" y="897255"/>
                </a:lnTo>
                <a:lnTo>
                  <a:pt x="9267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65045" y="262857"/>
            <a:ext cx="13757910" cy="102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  <a:spcBef>
                <a:spcPct val="0"/>
              </a:spcBef>
            </a:pPr>
            <a:r>
              <a:rPr lang="en-US" b="true" sz="59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2.4 Computer Vision Domain: CIFAR-10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24845"/>
            <a:ext cx="8012589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CIFAR-10 Dataset [3]: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60,000 natural images (32×32 pixels, color)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 classes: airplane, car, bird, cat, deer, dog, frog, horse, ship, truck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Standard benchmark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in computer vision research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892646"/>
            <a:ext cx="8012589" cy="31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Our approach: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Used </a:t>
            </a:r>
            <a:r>
              <a:rPr lang="en-US" sz="2299">
                <a:solidFill>
                  <a:srgbClr val="5CE1E6"/>
                </a:solidFill>
                <a:latin typeface="Inter"/>
                <a:ea typeface="Inter"/>
                <a:cs typeface="Inter"/>
                <a:sym typeface="Inter"/>
              </a:rPr>
              <a:t>ResNet50 [4] (pretrained on ImageNet)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to extract features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Converted images → 2048-dimensional feature vectors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Computational </a:t>
            </a:r>
            <a:r>
              <a:rPr lang="en-US" sz="2299">
                <a:solidFill>
                  <a:srgbClr val="FFBD59"/>
                </a:solidFill>
                <a:latin typeface="Inter"/>
                <a:ea typeface="Inter"/>
                <a:cs typeface="Inter"/>
                <a:sym typeface="Inter"/>
              </a:rPr>
              <a:t>subset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2,500 images (2000 train, 500 test)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Applied DIO-XGBoost optimization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59926" y="4346425"/>
            <a:ext cx="7799374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massive challenge: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Medical: 30 features (search space size)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Vision: </a:t>
            </a:r>
            <a:r>
              <a:rPr lang="en-US" b="true" sz="2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2048 features (68× larger!)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Much harder to optimize—needs way more computation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39977" y="2281261"/>
            <a:ext cx="957976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Can DIO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work beyond medical data? Let's test on images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-1470517" y="-1639007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4"/>
                </a:lnTo>
                <a:lnTo>
                  <a:pt x="3385756" y="3278014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2677172" y="-298075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5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5" y="3278015"/>
                </a:lnTo>
                <a:lnTo>
                  <a:pt x="33857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40153" y="3911010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6" y="0"/>
                </a:lnTo>
                <a:lnTo>
                  <a:pt x="3385756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331004" y="8600681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5" y="0"/>
                </a:moveTo>
                <a:lnTo>
                  <a:pt x="0" y="0"/>
                </a:lnTo>
                <a:lnTo>
                  <a:pt x="0" y="897255"/>
                </a:lnTo>
                <a:lnTo>
                  <a:pt x="926745" y="897255"/>
                </a:lnTo>
                <a:lnTo>
                  <a:pt x="9267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5741" y="319219"/>
            <a:ext cx="17547115" cy="102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  <a:spcBef>
                <a:spcPct val="0"/>
              </a:spcBef>
            </a:pPr>
            <a:r>
              <a:rPr lang="en-US" b="true" sz="59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2.4.1 CIFAR-10 Results: When Budget Isn't Enough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4582" y="2776545"/>
            <a:ext cx="7940863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ran th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 same DIO-XGBoost optimization on CIFAR-10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Configuration: 3 dholes/8 iterations for BOTH loops (reduced for speed)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evaluations: ~576 (24 outer × 24 inner)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Optimization time: </a:t>
            </a:r>
            <a:r>
              <a:rPr lang="en-US" sz="2299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3.6 hours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8719" y="5502392"/>
            <a:ext cx="8012589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</a:t>
            </a:r>
            <a:r>
              <a:rPr lang="en-US" sz="2299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299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</a:t>
            </a:r>
            <a:r>
              <a:rPr lang="en-US" sz="2299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 re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299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ult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l</a:t>
            </a:r>
            <a:r>
              <a:rPr lang="en-US" sz="2299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oked okay: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DIO-optimized (598 features): </a:t>
            </a:r>
            <a:r>
              <a:rPr lang="en-US" sz="2299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83.0%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accuracy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Baseline (all 2048 features): 80.8% accuracy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Seemed like 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+2.2% improvement with 70.8% feature reduction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61813" y="2376495"/>
            <a:ext cx="7799374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disappointing truth: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DIO-XGBoos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t: </a:t>
            </a:r>
            <a:r>
              <a:rPr lang="en-US" sz="2299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81.91%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± 1.38% (Rank #3)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XGBoost Def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ault: </a:t>
            </a:r>
            <a:r>
              <a:rPr lang="en-US" sz="2299">
                <a:solidFill>
                  <a:srgbClr val="0CC0DF"/>
                </a:solidFill>
                <a:latin typeface="Inter"/>
                <a:ea typeface="Inter"/>
                <a:cs typeface="Inter"/>
                <a:sym typeface="Inter"/>
              </a:rPr>
              <a:t>83.27%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± 1.25% (Rank #1)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←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Actually BETTER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Wilcoxon 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test: p = 7.15×10⁻⁵ (***) →</a:t>
            </a:r>
            <a:r>
              <a:rPr lang="en-US" sz="2299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 Highly significant WORSE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86494" y="9016606"/>
            <a:ext cx="887790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</a:t>
            </a: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timization </a:t>
            </a:r>
            <a:r>
              <a:rPr lang="en-US" sz="25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overfit</a:t>
            </a:r>
            <a:r>
              <a:rPr lang="en-US" sz="25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ting </a:t>
            </a: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strikes again—even XGBoost can't overcome severe </a:t>
            </a:r>
            <a:r>
              <a:rPr lang="en-US" sz="25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under-budgeting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61813" y="5045271"/>
            <a:ext cx="7799374" cy="358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went wrong? </a:t>
            </a:r>
            <a:r>
              <a:rPr lang="en-US" sz="2299" u="sng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Insufficient optimization budget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Medical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30-D space, 10,000 evaluations → </a:t>
            </a:r>
            <a:r>
              <a:rPr lang="en-US" sz="2299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SUCCESS 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(5/10 + 10/20)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Vision: 2048-D space, 576 ev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aluations → </a:t>
            </a:r>
            <a:r>
              <a:rPr lang="en-US" sz="2299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FAILURE 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(3/8 + 3/8)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Budget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didn't scale with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dimensionality (68× larg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 space!)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Need ~10,000-50,000 evaluations for 2048-D (17-87× more)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5421" y="8047851"/>
            <a:ext cx="829588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But then came the 30-run statistical validation...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1927" y="5404365"/>
            <a:ext cx="11544147" cy="4300195"/>
          </a:xfrm>
          <a:custGeom>
            <a:avLst/>
            <a:gdLst/>
            <a:ahLst/>
            <a:cxnLst/>
            <a:rect r="r" b="b" t="t" l="l"/>
            <a:pathLst>
              <a:path h="4300195" w="11544147">
                <a:moveTo>
                  <a:pt x="0" y="0"/>
                </a:moveTo>
                <a:lnTo>
                  <a:pt x="11544146" y="0"/>
                </a:lnTo>
                <a:lnTo>
                  <a:pt x="11544146" y="4300195"/>
                </a:lnTo>
                <a:lnTo>
                  <a:pt x="0" y="43001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4412"/>
            <a:ext cx="11301259" cy="4690022"/>
          </a:xfrm>
          <a:custGeom>
            <a:avLst/>
            <a:gdLst/>
            <a:ahLst/>
            <a:cxnLst/>
            <a:rect r="r" b="b" t="t" l="l"/>
            <a:pathLst>
              <a:path h="4690022" w="11301259">
                <a:moveTo>
                  <a:pt x="0" y="0"/>
                </a:moveTo>
                <a:lnTo>
                  <a:pt x="11301258" y="0"/>
                </a:lnTo>
                <a:lnTo>
                  <a:pt x="11301258" y="4690022"/>
                </a:lnTo>
                <a:lnTo>
                  <a:pt x="0" y="4690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49141" y="9643873"/>
            <a:ext cx="6789719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BFCFC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(30 run) Statistical comparaison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89582" y="4780159"/>
            <a:ext cx="530883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BFCFC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Single run model comparaison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82955" y="912647"/>
            <a:ext cx="6252474" cy="9112635"/>
          </a:xfrm>
          <a:custGeom>
            <a:avLst/>
            <a:gdLst/>
            <a:ahLst/>
            <a:cxnLst/>
            <a:rect r="r" b="b" t="t" l="l"/>
            <a:pathLst>
              <a:path h="9112635" w="6252474">
                <a:moveTo>
                  <a:pt x="0" y="0"/>
                </a:moveTo>
                <a:lnTo>
                  <a:pt x="6252474" y="0"/>
                </a:lnTo>
                <a:lnTo>
                  <a:pt x="6252474" y="9112635"/>
                </a:lnTo>
                <a:lnTo>
                  <a:pt x="0" y="9112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00" r="-346" b="-1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6747"/>
            <a:ext cx="16541703" cy="76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CIFAR-10: Statistical Analysis of Optimizataion Failure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40220" y="9987182"/>
            <a:ext cx="970613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30-run validation reveals DIO underperforms defaults: 81.91% vs 83.27% (p&lt;0.0001)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20503" y="1028700"/>
            <a:ext cx="5646994" cy="8588841"/>
          </a:xfrm>
          <a:custGeom>
            <a:avLst/>
            <a:gdLst/>
            <a:ahLst/>
            <a:cxnLst/>
            <a:rect r="r" b="b" t="t" l="l"/>
            <a:pathLst>
              <a:path h="8588841" w="5646994">
                <a:moveTo>
                  <a:pt x="0" y="0"/>
                </a:moveTo>
                <a:lnTo>
                  <a:pt x="5646994" y="0"/>
                </a:lnTo>
                <a:lnTo>
                  <a:pt x="5646994" y="8588841"/>
                </a:lnTo>
                <a:lnTo>
                  <a:pt x="0" y="85888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98095" y="30061"/>
            <a:ext cx="12452985" cy="78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2.5 </a:t>
            </a:r>
            <a:r>
              <a:rPr lang="en-US" b="true" sz="45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Cross-Domain Results: Success vs Failure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30958" y="9816982"/>
            <a:ext cx="932465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omplete comparison: Medical (96.9%, SUCCESS) vs CIFAR-10 (81.91%, FAILURE)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28603" y="4319502"/>
            <a:ext cx="8653903" cy="170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840" indent="-260420" lvl="1">
              <a:lnSpc>
                <a:spcPts val="3377"/>
              </a:lnSpc>
              <a:buFont typeface="Arial"/>
              <a:buChar char="•"/>
            </a:pP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Combine DIO (global search) with l</a:t>
            </a: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ocal refinement (Bayesian optimization)</a:t>
            </a:r>
          </a:p>
          <a:p>
            <a:pPr algn="l" marL="520840" indent="-260420" lvl="1">
              <a:lnSpc>
                <a:spcPts val="3377"/>
              </a:lnSpc>
              <a:buFont typeface="Arial"/>
              <a:buChar char="•"/>
            </a:pP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</a:t>
            </a: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 DIO for exploration, gradient methods for exploitation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83426" y="3492488"/>
            <a:ext cx="7158267" cy="39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  <a:spcBef>
                <a:spcPct val="0"/>
              </a:spcBef>
            </a:pPr>
            <a:r>
              <a:rPr lang="en-US" b="true" sz="231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2. Hybrid Optimization Strategies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16900" y="4416494"/>
            <a:ext cx="254200" cy="1454012"/>
            <a:chOff x="0" y="0"/>
            <a:chExt cx="66950" cy="382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950" cy="382950"/>
            </a:xfrm>
            <a:custGeom>
              <a:avLst/>
              <a:gdLst/>
              <a:ahLst/>
              <a:cxnLst/>
              <a:rect r="r" b="b" t="t" l="l"/>
              <a:pathLst>
                <a:path h="382950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349475"/>
                  </a:lnTo>
                  <a:cubicBezTo>
                    <a:pt x="66950" y="367962"/>
                    <a:pt x="51963" y="382950"/>
                    <a:pt x="33475" y="382950"/>
                  </a:cubicBezTo>
                  <a:lnTo>
                    <a:pt x="33475" y="382950"/>
                  </a:lnTo>
                  <a:cubicBezTo>
                    <a:pt x="14987" y="382950"/>
                    <a:pt x="0" y="367962"/>
                    <a:pt x="0" y="349475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6950" cy="42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737869" y="7168364"/>
            <a:ext cx="8644637" cy="223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879" indent="-272440" lvl="1">
              <a:lnSpc>
                <a:spcPts val="3533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Other medical tasks: multi-class diagnosis, survival prediction</a:t>
            </a:r>
          </a:p>
          <a:p>
            <a:pPr algn="l" marL="544879" indent="-272440" lvl="1">
              <a:lnSpc>
                <a:spcPts val="3533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eural architecture search with DIO</a:t>
            </a:r>
          </a:p>
          <a:p>
            <a:pPr algn="l" marL="544879" indent="-272440" lvl="1">
              <a:lnSpc>
                <a:spcPts val="3533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Fairness-aware feature selection (removing biased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3426" y="6355039"/>
            <a:ext cx="7279641" cy="130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47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3. Broader Applications</a:t>
            </a:r>
          </a:p>
          <a:p>
            <a:pPr algn="l">
              <a:lnSpc>
                <a:spcPts val="3471"/>
              </a:lnSpc>
            </a:pPr>
          </a:p>
          <a:p>
            <a:pPr algn="l">
              <a:lnSpc>
                <a:spcPts val="3471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9016900" y="7225514"/>
            <a:ext cx="254200" cy="2032786"/>
            <a:chOff x="0" y="0"/>
            <a:chExt cx="66950" cy="5353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950" cy="535384"/>
            </a:xfrm>
            <a:custGeom>
              <a:avLst/>
              <a:gdLst/>
              <a:ahLst/>
              <a:cxnLst/>
              <a:rect r="r" b="b" t="t" l="l"/>
              <a:pathLst>
                <a:path h="535384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501909"/>
                  </a:lnTo>
                  <a:cubicBezTo>
                    <a:pt x="66950" y="520397"/>
                    <a:pt x="51963" y="535384"/>
                    <a:pt x="33475" y="535384"/>
                  </a:cubicBezTo>
                  <a:lnTo>
                    <a:pt x="33475" y="535384"/>
                  </a:lnTo>
                  <a:cubicBezTo>
                    <a:pt x="24597" y="535384"/>
                    <a:pt x="16082" y="531857"/>
                    <a:pt x="9805" y="525579"/>
                  </a:cubicBezTo>
                  <a:cubicBezTo>
                    <a:pt x="3527" y="519302"/>
                    <a:pt x="0" y="510787"/>
                    <a:pt x="0" y="501909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950" cy="573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0788" y="3572620"/>
            <a:ext cx="8646651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3. Future Research Directions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74403" y="1571318"/>
            <a:ext cx="8813597" cy="119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359" indent="-245180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Automatically adjust p</a:t>
            </a: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opulation size based on dimensionality</a:t>
            </a:r>
          </a:p>
          <a:p>
            <a:pPr algn="l" marL="490359" indent="-245180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Develop formulas: budget ≈ k × D² (where D = dimensions)</a:t>
            </a:r>
          </a:p>
          <a:p>
            <a:pPr algn="l" marL="490359" indent="-245180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Balance computational cost with quality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28603" y="792204"/>
            <a:ext cx="6867913" cy="41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  <a:spcBef>
                <a:spcPct val="0"/>
              </a:spcBef>
            </a:pPr>
            <a:r>
              <a:rPr lang="en-US" b="true" sz="237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1. Adaptive Budget Allocation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016900" y="1463168"/>
            <a:ext cx="254200" cy="1454012"/>
            <a:chOff x="0" y="0"/>
            <a:chExt cx="66950" cy="3829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950" cy="382950"/>
            </a:xfrm>
            <a:custGeom>
              <a:avLst/>
              <a:gdLst/>
              <a:ahLst/>
              <a:cxnLst/>
              <a:rect r="r" b="b" t="t" l="l"/>
              <a:pathLst>
                <a:path h="382950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349475"/>
                  </a:lnTo>
                  <a:cubicBezTo>
                    <a:pt x="66950" y="367962"/>
                    <a:pt x="51963" y="382950"/>
                    <a:pt x="33475" y="382950"/>
                  </a:cubicBezTo>
                  <a:lnTo>
                    <a:pt x="33475" y="382950"/>
                  </a:lnTo>
                  <a:cubicBezTo>
                    <a:pt x="14987" y="382950"/>
                    <a:pt x="0" y="367962"/>
                    <a:pt x="0" y="349475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6950" cy="42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true" flipV="false" rot="0">
            <a:off x="3613718" y="-1016812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837421" y="7619293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5" y="0"/>
                </a:lnTo>
                <a:lnTo>
                  <a:pt x="3385755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1056012" y="8361045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68239" y="3108461"/>
            <a:ext cx="8653903" cy="84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840" indent="-260420" lvl="1">
              <a:lnSpc>
                <a:spcPts val="3377"/>
              </a:lnSpc>
              <a:buFont typeface="Arial"/>
              <a:buChar char="•"/>
            </a:pP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DIO-RF-CV: 96.55%, 6 featu</a:t>
            </a: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</a:t>
            </a: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Best interpretability, 80% cost reduction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728603" y="6337352"/>
            <a:ext cx="7158267" cy="39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  <a:spcBef>
                <a:spcPct val="0"/>
              </a:spcBef>
            </a:pPr>
            <a:r>
              <a:rPr lang="en-US" b="true" sz="231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Golden Rules: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83426" y="7321458"/>
            <a:ext cx="8644637" cy="178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879" indent="-272440" lvl="1">
              <a:lnSpc>
                <a:spcPts val="3533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validate with 30+ runs</a:t>
            </a:r>
          </a:p>
          <a:p>
            <a:pPr algn="l" marL="544879" indent="-272440" lvl="1">
              <a:lnSpc>
                <a:spcPts val="3533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statistical tests (Wilcoxon)</a:t>
            </a:r>
          </a:p>
          <a:p>
            <a:pPr algn="l" marL="544879" indent="-272440" lvl="1">
              <a:lnSpc>
                <a:spcPts val="3533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</a:t>
            </a: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ale budget with dimensionality</a:t>
            </a:r>
          </a:p>
          <a:p>
            <a:pPr algn="l">
              <a:lnSpc>
                <a:spcPts val="3533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9016900" y="7072419"/>
            <a:ext cx="254200" cy="2032786"/>
            <a:chOff x="0" y="0"/>
            <a:chExt cx="66950" cy="5353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950" cy="535384"/>
            </a:xfrm>
            <a:custGeom>
              <a:avLst/>
              <a:gdLst/>
              <a:ahLst/>
              <a:cxnLst/>
              <a:rect r="r" b="b" t="t" l="l"/>
              <a:pathLst>
                <a:path h="535384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501909"/>
                  </a:lnTo>
                  <a:cubicBezTo>
                    <a:pt x="66950" y="520397"/>
                    <a:pt x="51963" y="535384"/>
                    <a:pt x="33475" y="535384"/>
                  </a:cubicBezTo>
                  <a:lnTo>
                    <a:pt x="33475" y="535384"/>
                  </a:lnTo>
                  <a:cubicBezTo>
                    <a:pt x="24597" y="535384"/>
                    <a:pt x="16082" y="531857"/>
                    <a:pt x="9805" y="525579"/>
                  </a:cubicBezTo>
                  <a:cubicBezTo>
                    <a:pt x="3527" y="519302"/>
                    <a:pt x="0" y="510787"/>
                    <a:pt x="0" y="501909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950" cy="573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74291" y="3411199"/>
            <a:ext cx="8646651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Practical Recommendations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68239" y="1748274"/>
            <a:ext cx="8813597" cy="931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359" indent="-245180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🏆 DIO-XGBoost: 96.88%, 10 feat</a:t>
            </a: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ures</a:t>
            </a:r>
          </a:p>
          <a:p>
            <a:pPr algn="l">
              <a:lnSpc>
                <a:spcPts val="5450"/>
              </a:lnSpc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</a:t>
            </a: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Best accuracy, use when resources available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83426" y="742145"/>
            <a:ext cx="6867913" cy="83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sz="237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For Healthcare ML Deployment:</a:t>
            </a:r>
          </a:p>
          <a:p>
            <a:pPr algn="l">
              <a:lnSpc>
                <a:spcPts val="3329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9016900" y="1463168"/>
            <a:ext cx="254200" cy="4181812"/>
            <a:chOff x="0" y="0"/>
            <a:chExt cx="66950" cy="11013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950" cy="1101382"/>
            </a:xfrm>
            <a:custGeom>
              <a:avLst/>
              <a:gdLst/>
              <a:ahLst/>
              <a:cxnLst/>
              <a:rect r="r" b="b" t="t" l="l"/>
              <a:pathLst>
                <a:path h="1101382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1067908"/>
                  </a:lnTo>
                  <a:cubicBezTo>
                    <a:pt x="66950" y="1086395"/>
                    <a:pt x="51963" y="1101382"/>
                    <a:pt x="33475" y="1101382"/>
                  </a:cubicBezTo>
                  <a:lnTo>
                    <a:pt x="33475" y="1101382"/>
                  </a:lnTo>
                  <a:cubicBezTo>
                    <a:pt x="14987" y="1101382"/>
                    <a:pt x="0" y="1086395"/>
                    <a:pt x="0" y="1067908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6950" cy="1139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3613718" y="-1016812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837421" y="7619293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5" y="0"/>
                </a:lnTo>
                <a:lnTo>
                  <a:pt x="3385755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056012" y="8361045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968239" y="4353464"/>
            <a:ext cx="8813597" cy="790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359" indent="-245180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⚠ DIO-RF-Single: 94.37%, 8 feat</a:t>
            </a: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ures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</a:t>
            </a: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Only for rapid prototyping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99312" y="2479354"/>
            <a:ext cx="763649" cy="731715"/>
          </a:xfrm>
          <a:custGeom>
            <a:avLst/>
            <a:gdLst/>
            <a:ahLst/>
            <a:cxnLst/>
            <a:rect r="r" b="b" t="t" l="l"/>
            <a:pathLst>
              <a:path h="731715" w="763649">
                <a:moveTo>
                  <a:pt x="0" y="0"/>
                </a:moveTo>
                <a:lnTo>
                  <a:pt x="763649" y="0"/>
                </a:lnTo>
                <a:lnTo>
                  <a:pt x="763649" y="731714"/>
                </a:lnTo>
                <a:lnTo>
                  <a:pt x="0" y="73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38116" y="706697"/>
            <a:ext cx="9411768" cy="215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338585" indent="-669293" lvl="1">
              <a:lnSpc>
                <a:spcPts val="8680"/>
              </a:lnSpc>
              <a:buAutoNum type="arabicPeriod" startAt="1"/>
            </a:pPr>
            <a:r>
              <a:rPr lang="en-US" b="true" sz="62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DIO: Key Advantages</a:t>
            </a:r>
          </a:p>
          <a:p>
            <a:pPr algn="ctr">
              <a:lnSpc>
                <a:spcPts val="868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099312" y="3570327"/>
            <a:ext cx="763649" cy="731715"/>
          </a:xfrm>
          <a:custGeom>
            <a:avLst/>
            <a:gdLst/>
            <a:ahLst/>
            <a:cxnLst/>
            <a:rect r="r" b="b" t="t" l="l"/>
            <a:pathLst>
              <a:path h="731715" w="763649">
                <a:moveTo>
                  <a:pt x="0" y="0"/>
                </a:moveTo>
                <a:lnTo>
                  <a:pt x="763649" y="0"/>
                </a:lnTo>
                <a:lnTo>
                  <a:pt x="763649" y="731714"/>
                </a:lnTo>
                <a:lnTo>
                  <a:pt x="0" y="73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99312" y="4662218"/>
            <a:ext cx="763649" cy="731715"/>
          </a:xfrm>
          <a:custGeom>
            <a:avLst/>
            <a:gdLst/>
            <a:ahLst/>
            <a:cxnLst/>
            <a:rect r="r" b="b" t="t" l="l"/>
            <a:pathLst>
              <a:path h="731715" w="763649">
                <a:moveTo>
                  <a:pt x="0" y="0"/>
                </a:moveTo>
                <a:lnTo>
                  <a:pt x="763649" y="0"/>
                </a:lnTo>
                <a:lnTo>
                  <a:pt x="763649" y="731714"/>
                </a:lnTo>
                <a:lnTo>
                  <a:pt x="0" y="73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99312" y="5754109"/>
            <a:ext cx="763649" cy="731715"/>
          </a:xfrm>
          <a:custGeom>
            <a:avLst/>
            <a:gdLst/>
            <a:ahLst/>
            <a:cxnLst/>
            <a:rect r="r" b="b" t="t" l="l"/>
            <a:pathLst>
              <a:path h="731715" w="763649">
                <a:moveTo>
                  <a:pt x="0" y="0"/>
                </a:moveTo>
                <a:lnTo>
                  <a:pt x="763649" y="0"/>
                </a:lnTo>
                <a:lnTo>
                  <a:pt x="763649" y="731715"/>
                </a:lnTo>
                <a:lnTo>
                  <a:pt x="0" y="7317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099312" y="7069801"/>
            <a:ext cx="763649" cy="731715"/>
          </a:xfrm>
          <a:custGeom>
            <a:avLst/>
            <a:gdLst/>
            <a:ahLst/>
            <a:cxnLst/>
            <a:rect r="r" b="b" t="t" l="l"/>
            <a:pathLst>
              <a:path h="731715" w="763649">
                <a:moveTo>
                  <a:pt x="0" y="0"/>
                </a:moveTo>
                <a:lnTo>
                  <a:pt x="763649" y="0"/>
                </a:lnTo>
                <a:lnTo>
                  <a:pt x="763649" y="731715"/>
                </a:lnTo>
                <a:lnTo>
                  <a:pt x="0" y="7317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099312" y="8161693"/>
            <a:ext cx="763649" cy="731715"/>
          </a:xfrm>
          <a:custGeom>
            <a:avLst/>
            <a:gdLst/>
            <a:ahLst/>
            <a:cxnLst/>
            <a:rect r="r" b="b" t="t" l="l"/>
            <a:pathLst>
              <a:path h="731715" w="763649">
                <a:moveTo>
                  <a:pt x="0" y="0"/>
                </a:moveTo>
                <a:lnTo>
                  <a:pt x="763649" y="0"/>
                </a:lnTo>
                <a:lnTo>
                  <a:pt x="763649" y="731714"/>
                </a:lnTo>
                <a:lnTo>
                  <a:pt x="0" y="73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27472" y="2577158"/>
            <a:ext cx="4793153" cy="4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2"/>
              </a:lnSpc>
              <a:spcBef>
                <a:spcPct val="0"/>
              </a:spcBef>
            </a:pPr>
            <a:r>
              <a:rPr lang="en-US" sz="27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Superior convergence speed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27622" y="3823084"/>
            <a:ext cx="7061066" cy="4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2"/>
              </a:lnSpc>
              <a:spcBef>
                <a:spcPct val="0"/>
              </a:spcBef>
            </a:pPr>
            <a:r>
              <a:rPr lang="en-US" sz="27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Excellent exploration-exploitation balance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27522" y="4914975"/>
            <a:ext cx="5987939" cy="4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2"/>
              </a:lnSpc>
              <a:spcBef>
                <a:spcPct val="0"/>
              </a:spcBef>
            </a:pPr>
            <a:r>
              <a:rPr lang="en-US" sz="27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Outstanding local minima avoidance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63939" y="6062817"/>
            <a:ext cx="4520219" cy="4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2"/>
              </a:lnSpc>
              <a:spcBef>
                <a:spcPct val="0"/>
              </a:spcBef>
            </a:pPr>
            <a:r>
              <a:rPr lang="en-US" sz="27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Low variance, high stability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63989" y="7322559"/>
            <a:ext cx="5315809" cy="4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2"/>
              </a:lnSpc>
              <a:spcBef>
                <a:spcPct val="0"/>
              </a:spcBef>
            </a:pPr>
            <a:r>
              <a:rPr lang="en-US" sz="27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Real-world engineering success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63814" y="8414450"/>
            <a:ext cx="3452095" cy="4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2"/>
              </a:lnSpc>
              <a:spcBef>
                <a:spcPct val="0"/>
              </a:spcBef>
            </a:pPr>
            <a:r>
              <a:rPr lang="en-US" sz="27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Easy implementation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04299" y="594933"/>
            <a:ext cx="8279403" cy="109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44"/>
              </a:lnSpc>
            </a:pPr>
            <a:r>
              <a:rPr lang="en-US" sz="638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DIO: Key Limitations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23126" y="2453884"/>
            <a:ext cx="8517970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Parameter sensitivity (population size, iterations)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23126" y="3825491"/>
            <a:ext cx="8602146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computational cost for large-scale problems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23126" y="5199631"/>
            <a:ext cx="5256490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global optimality guarantee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23126" y="6557262"/>
            <a:ext cx="7350443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Variable performance across problem types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1794" y="384768"/>
            <a:ext cx="10114158" cy="215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5. Conclusion: Key Contributions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924751" y="8311780"/>
            <a:ext cx="605849" cy="580513"/>
          </a:xfrm>
          <a:custGeom>
            <a:avLst/>
            <a:gdLst/>
            <a:ahLst/>
            <a:cxnLst/>
            <a:rect r="r" b="b" t="t" l="l"/>
            <a:pathLst>
              <a:path h="580513" w="605849">
                <a:moveTo>
                  <a:pt x="0" y="0"/>
                </a:moveTo>
                <a:lnTo>
                  <a:pt x="605849" y="0"/>
                </a:lnTo>
                <a:lnTo>
                  <a:pt x="605849" y="580513"/>
                </a:lnTo>
                <a:lnTo>
                  <a:pt x="0" y="58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30600" y="3188722"/>
            <a:ext cx="11075353" cy="570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Discovered 'Optimization Overfitting'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Use CV during optimization, not just evaluation 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Algorithm-Dependent Strategies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RF needs CV; XGBoost more robust but not immune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Budget Scaling Laws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Budget must scale with dimensionality²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DIO-XGBoost Success: 96.88% accuracy, 67% fewer features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Bottom line: Optimization needs adequate computational investment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99272" y="413148"/>
            <a:ext cx="6289457" cy="14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sz="859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093465"/>
            <a:ext cx="18288000" cy="819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595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[1] El Romeh, A., Mirjalili, S., &amp; Šnel, V. (2025). Dholes-Inspired Optimization (DIO). Cluster Computing (Springer). </a:t>
            </a:r>
            <a:r>
              <a:rPr lang="en-US" sz="25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2" tooltip="https://link.springer.com/article/10.1007/s10586-025-05543-2"/>
              </a:rPr>
              <a:t>DOI</a:t>
            </a: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10.1007/s10586-025-05543-2</a:t>
            </a:r>
          </a:p>
          <a:p>
            <a:pPr algn="l" marL="561336" indent="-280668" lvl="1">
              <a:lnSpc>
                <a:spcPts val="595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[2] Dua, D. &amp; Graff, C. (2019). UCI Machine Learning Repository: Breast Cancer Wisconsin (Diagnostic) Data Set. University of California, Irvine.</a:t>
            </a:r>
          </a:p>
          <a:p>
            <a:pPr algn="l" marL="561336" indent="-280668" lvl="1">
              <a:lnSpc>
                <a:spcPts val="595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[3] Krizhevsky, A. (2009). Learning Multiple Layers of Features from Tiny Images. Technical Report, University of Toronto.</a:t>
            </a:r>
          </a:p>
          <a:p>
            <a:pPr algn="l" marL="561336" indent="-280668" lvl="1">
              <a:lnSpc>
                <a:spcPts val="595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[4] He, K., Zhang, X., Ren, S., &amp; Sun, J. (2016). Deep Residual Learning for Image Recognition. IEEE CVPR.</a:t>
            </a:r>
          </a:p>
          <a:p>
            <a:pPr algn="l" marL="561336" indent="-280668" lvl="1">
              <a:lnSpc>
                <a:spcPts val="595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[5] Chen, T. &amp; Guestrin, C. (2016). XGBoost: A Scalable Tree Boosting System. KDD '16.</a:t>
            </a:r>
          </a:p>
          <a:p>
            <a:pPr algn="l" marL="561336" indent="-280668" lvl="1">
              <a:lnSpc>
                <a:spcPts val="595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[6] Breiman, L. (2001). Random Forests. Machine Learning, 45(1), 5-32.</a:t>
            </a:r>
          </a:p>
          <a:p>
            <a:pPr algn="l" marL="561336" indent="-280668" lvl="1">
              <a:lnSpc>
                <a:spcPts val="595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[7] Wilcoxon, F. (1945). Individual Comparisons by Ranking Methods. Biometrics Bulletin, 1(6), 80-83.</a:t>
            </a:r>
          </a:p>
          <a:p>
            <a:pPr algn="l">
              <a:lnSpc>
                <a:spcPts val="5953"/>
              </a:lnSpc>
            </a:pP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8370" y="2880773"/>
            <a:ext cx="10611260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you for your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DAG6Au1ISEg</dc:identifier>
  <dcterms:modified xsi:type="dcterms:W3CDTF">2011-08-01T06:04:30Z</dcterms:modified>
  <cp:revision>1</cp:revision>
  <dc:title>Dholes-Inspired Optimization (DIO)</dc:title>
</cp:coreProperties>
</file>